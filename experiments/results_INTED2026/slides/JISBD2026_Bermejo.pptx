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4" r:id="rId6"/>
    <p:sldId id="260" r:id="rId7"/>
    <p:sldId id="261" r:id="rId8"/>
    <p:sldId id="271" r:id="rId9"/>
    <p:sldId id="262" r:id="rId10"/>
    <p:sldId id="275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09" autoAdjust="0"/>
  </p:normalViewPr>
  <p:slideViewPr>
    <p:cSldViewPr snapToGrid="0" snapToObjects="1">
      <p:cViewPr varScale="1">
        <p:scale>
          <a:sx n="94" d="100"/>
          <a:sy n="94" d="100"/>
        </p:scale>
        <p:origin x="119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4DFD3-0F14-4DDD-A137-70194C2A5E08}" type="datetimeFigureOut">
              <a:rPr lang="es-ES" smtClean="0"/>
              <a:t>01/06/2026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01832B-6E81-4089-9C02-9F96F0EBD2F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4622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Dado que en la </a:t>
            </a:r>
            <a:r>
              <a:rPr lang="es-E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mayor´ıa</a:t>
            </a:r>
            <a:r>
              <a:rPr lang="es-E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los casos no se obtiene una mejora media </a:t>
            </a:r>
            <a:r>
              <a:rPr lang="es-E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v´alida</a:t>
            </a:r>
            <a:r>
              <a:rPr lang="es-E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para</a:t>
            </a:r>
          </a:p>
          <a:p>
            <a:r>
              <a:rPr lang="es-E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 </a:t>
            </a:r>
            <a:r>
              <a:rPr lang="es-E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b´usqueda</a:t>
            </a:r>
            <a:r>
              <a:rPr lang="es-E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aleatoria, se obvia en el ranking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01832B-6E81-4089-9C02-9F96F0EBD2F2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0973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loa/magpie" TargetMode="External"/><Relationship Id="rId2" Type="http://schemas.openxmlformats.org/officeDocument/2006/relationships/hyperlink" Target="https://arxiv.org/abs/2208.02811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80000"/>
            <a:ext cx="12188952" cy="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11324952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UMDA aplicado a la Mejora
Automática del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3215951"/>
            <a:ext cx="11324952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C000"/>
                </a:solidFill>
              </a:rPr>
              <a:t>Pablo Bermejo López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3757615"/>
            <a:ext cx="11324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0" i="0" dirty="0">
                <a:solidFill>
                  <a:srgbClr val="FFFFFF"/>
                </a:solidFill>
              </a:rPr>
              <a:t>Sistemas Inteligentes y Minería de Datos </a:t>
            </a:r>
            <a:r>
              <a:rPr sz="1800" b="0" i="0" dirty="0">
                <a:solidFill>
                  <a:srgbClr val="FFFFFF"/>
                </a:solidFill>
              </a:rPr>
              <a:t>(</a:t>
            </a:r>
            <a:r>
              <a:rPr lang="es-ES" sz="1800" b="0" i="0" dirty="0">
                <a:solidFill>
                  <a:srgbClr val="FFFFFF"/>
                </a:solidFill>
              </a:rPr>
              <a:t>SIMD</a:t>
            </a:r>
            <a:r>
              <a:rPr sz="1800" b="0" i="0" dirty="0">
                <a:solidFill>
                  <a:srgbClr val="FFFFFF"/>
                </a:solidFill>
              </a:rPr>
              <a:t>)
</a:t>
            </a:r>
            <a:r>
              <a:rPr lang="es-ES" sz="1800" b="0" i="0" dirty="0">
                <a:solidFill>
                  <a:srgbClr val="FFFFFF"/>
                </a:solidFill>
              </a:rPr>
              <a:t>Escuela Superior de Ingeniería Informática</a:t>
            </a:r>
          </a:p>
          <a:p>
            <a:pPr algn="ctr"/>
            <a:r>
              <a:rPr sz="1800" b="0" i="0" dirty="0">
                <a:solidFill>
                  <a:srgbClr val="FFFFFF"/>
                </a:solidFill>
              </a:rPr>
              <a:t>Universidad de Castilla-La Mancha, Albacete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52952" y="4789777"/>
            <a:ext cx="9504000" cy="306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00664" y="5313441"/>
            <a:ext cx="950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</a:rPr>
              <a:t>JISBD 2026  ·  Alicante  ·  16</a:t>
            </a:r>
            <a:r>
              <a:rPr lang="es-ES" sz="1800" b="1" i="0" dirty="0">
                <a:solidFill>
                  <a:srgbClr val="FFFFFF"/>
                </a:solidFill>
              </a:rPr>
              <a:t>-19</a:t>
            </a:r>
            <a:r>
              <a:rPr sz="1800" b="1" i="0" dirty="0">
                <a:solidFill>
                  <a:srgbClr val="FFFFFF"/>
                </a:solidFill>
              </a:rPr>
              <a:t> de </a:t>
            </a:r>
            <a:r>
              <a:rPr lang="es-ES" sz="1800" b="1" i="0" dirty="0">
                <a:solidFill>
                  <a:srgbClr val="FFFFFF"/>
                </a:solidFill>
              </a:rPr>
              <a:t>J</a:t>
            </a:r>
            <a:r>
              <a:rPr sz="1800" b="1" i="0" dirty="0">
                <a:solidFill>
                  <a:srgbClr val="FFFFFF"/>
                </a:solidFill>
              </a:rPr>
              <a:t>unio de 2026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FE93F18-46F4-860B-F9D2-014FC5E43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252" y="6083530"/>
            <a:ext cx="1790700" cy="61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stedes 2026 | Alicante">
            <a:extLst>
              <a:ext uri="{FF2B5EF4-FFF2-40B4-BE49-F238E27FC236}">
                <a16:creationId xmlns:a16="http://schemas.microsoft.com/office/drawing/2014/main" id="{69D3E9FD-B999-17F0-AE03-FB1E75F61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703" y="648000"/>
            <a:ext cx="2637218" cy="95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Mejora Genética del Software — ¿Por qué?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" y="6624000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Pablo Bermejo · UCLM · JISBD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2154"/>
            <a:ext cx="11468952" cy="4329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2200" b="0" dirty="0">
                <a:solidFill>
                  <a:srgbClr val="404040"/>
                </a:solidFill>
              </a:rPr>
              <a:t>▸ El software </a:t>
            </a:r>
            <a:r>
              <a:rPr sz="2200" b="0" dirty="0" err="1">
                <a:solidFill>
                  <a:srgbClr val="404040"/>
                </a:solidFill>
              </a:rPr>
              <a:t>contiene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comportamientos</a:t>
            </a:r>
            <a:r>
              <a:rPr sz="2200" b="0" dirty="0">
                <a:solidFill>
                  <a:srgbClr val="404040"/>
                </a:solidFill>
              </a:rPr>
              <a:t> no </a:t>
            </a:r>
            <a:r>
              <a:rPr sz="2200" b="0" dirty="0" err="1">
                <a:solidFill>
                  <a:srgbClr val="404040"/>
                </a:solidFill>
              </a:rPr>
              <a:t>óptimos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en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propiedades</a:t>
            </a:r>
            <a:r>
              <a:rPr sz="2200" b="0" dirty="0">
                <a:solidFill>
                  <a:srgbClr val="404040"/>
                </a:solidFill>
              </a:rPr>
              <a:t> no </a:t>
            </a:r>
            <a:r>
              <a:rPr sz="2200" b="0" dirty="0" err="1">
                <a:solidFill>
                  <a:srgbClr val="404040"/>
                </a:solidFill>
              </a:rPr>
              <a:t>funcionales</a:t>
            </a:r>
            <a:r>
              <a:rPr sz="2200" b="0" dirty="0">
                <a:solidFill>
                  <a:srgbClr val="404040"/>
                </a:solidFill>
              </a:rPr>
              <a:t>:
    </a:t>
            </a:r>
            <a:r>
              <a:rPr sz="2200" b="0" dirty="0" err="1">
                <a:solidFill>
                  <a:srgbClr val="404040"/>
                </a:solidFill>
              </a:rPr>
              <a:t>tiempo</a:t>
            </a:r>
            <a:r>
              <a:rPr sz="2200" b="0" dirty="0">
                <a:solidFill>
                  <a:srgbClr val="404040"/>
                </a:solidFill>
              </a:rPr>
              <a:t> de </a:t>
            </a:r>
            <a:r>
              <a:rPr sz="2200" b="0" dirty="0" err="1">
                <a:solidFill>
                  <a:srgbClr val="404040"/>
                </a:solidFill>
              </a:rPr>
              <a:t>ejecución</a:t>
            </a:r>
            <a:r>
              <a:rPr sz="2200" b="0" dirty="0">
                <a:solidFill>
                  <a:srgbClr val="404040"/>
                </a:solidFill>
              </a:rPr>
              <a:t>, memoria, </a:t>
            </a:r>
            <a:r>
              <a:rPr sz="2200" b="0" dirty="0" err="1">
                <a:solidFill>
                  <a:srgbClr val="404040"/>
                </a:solidFill>
              </a:rPr>
              <a:t>consumo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energético</a:t>
            </a:r>
            <a:endParaRPr lang="es-ES" sz="2200" b="0" dirty="0">
              <a:solidFill>
                <a:srgbClr val="404040"/>
              </a:solidFill>
            </a:endParaRPr>
          </a:p>
          <a:p>
            <a:pPr>
              <a:spcBef>
                <a:spcPts val="400"/>
              </a:spcBef>
            </a:pPr>
            <a:endParaRPr sz="2200" b="0" dirty="0">
              <a:solidFill>
                <a:srgbClr val="404040"/>
              </a:solidFill>
            </a:endParaRPr>
          </a:p>
          <a:p>
            <a:pPr>
              <a:spcBef>
                <a:spcPts val="400"/>
              </a:spcBef>
            </a:pPr>
            <a:r>
              <a:rPr sz="2200" b="0" dirty="0">
                <a:solidFill>
                  <a:srgbClr val="404040"/>
                </a:solidFill>
              </a:rPr>
              <a:t>▸ Idea: </a:t>
            </a:r>
            <a:r>
              <a:rPr sz="2200" b="0" dirty="0" err="1">
                <a:solidFill>
                  <a:srgbClr val="404040"/>
                </a:solidFill>
              </a:rPr>
              <a:t>tratar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el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código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como</a:t>
            </a:r>
            <a:r>
              <a:rPr sz="2200" b="0" dirty="0">
                <a:solidFill>
                  <a:srgbClr val="404040"/>
                </a:solidFill>
              </a:rPr>
              <a:t> material </a:t>
            </a:r>
            <a:r>
              <a:rPr sz="2200" b="0" dirty="0" err="1">
                <a:solidFill>
                  <a:srgbClr val="404040"/>
                </a:solidFill>
              </a:rPr>
              <a:t>genético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que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puede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mutarse</a:t>
            </a:r>
            <a:r>
              <a:rPr sz="2200" b="0" dirty="0">
                <a:solidFill>
                  <a:srgbClr val="404040"/>
                </a:solidFill>
              </a:rPr>
              <a:t> y </a:t>
            </a:r>
            <a:r>
              <a:rPr sz="2200" b="0" dirty="0" err="1">
                <a:solidFill>
                  <a:srgbClr val="404040"/>
                </a:solidFill>
              </a:rPr>
              <a:t>evolucionar</a:t>
            </a:r>
            <a:r>
              <a:rPr sz="2200" b="0" dirty="0">
                <a:solidFill>
                  <a:srgbClr val="404040"/>
                </a:solidFill>
              </a:rPr>
              <a:t>
    </a:t>
            </a:r>
            <a:r>
              <a:rPr sz="2200" b="0" dirty="0" err="1">
                <a:solidFill>
                  <a:srgbClr val="404040"/>
                </a:solidFill>
              </a:rPr>
              <a:t>automáticamente</a:t>
            </a:r>
            <a:r>
              <a:rPr sz="2200" b="0" dirty="0">
                <a:solidFill>
                  <a:srgbClr val="404040"/>
                </a:solidFill>
              </a:rPr>
              <a:t> (Petke et al., 2018)</a:t>
            </a:r>
            <a:endParaRPr lang="es-ES" sz="2200" b="0" dirty="0">
              <a:solidFill>
                <a:srgbClr val="404040"/>
              </a:solidFill>
            </a:endParaRPr>
          </a:p>
          <a:p>
            <a:pPr>
              <a:spcBef>
                <a:spcPts val="400"/>
              </a:spcBef>
            </a:pPr>
            <a:endParaRPr sz="2200" b="0" dirty="0">
              <a:solidFill>
                <a:srgbClr val="404040"/>
              </a:solidFill>
            </a:endParaRPr>
          </a:p>
          <a:p>
            <a:pPr>
              <a:spcBef>
                <a:spcPts val="400"/>
              </a:spcBef>
            </a:pPr>
            <a:r>
              <a:rPr sz="2200" b="0" dirty="0">
                <a:solidFill>
                  <a:srgbClr val="404040"/>
                </a:solidFill>
              </a:rPr>
              <a:t>▸ </a:t>
            </a:r>
            <a:r>
              <a:rPr sz="2200" b="0" dirty="0" err="1">
                <a:solidFill>
                  <a:srgbClr val="404040"/>
                </a:solidFill>
              </a:rPr>
              <a:t>Proceso</a:t>
            </a:r>
            <a:r>
              <a:rPr sz="2200" b="0" dirty="0">
                <a:solidFill>
                  <a:srgbClr val="404040"/>
                </a:solidFill>
              </a:rPr>
              <a:t>: </a:t>
            </a:r>
            <a:r>
              <a:rPr sz="2200" b="0" dirty="0" err="1">
                <a:solidFill>
                  <a:srgbClr val="404040"/>
                </a:solidFill>
              </a:rPr>
              <a:t>generar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variante</a:t>
            </a:r>
            <a:r>
              <a:rPr sz="2200" b="0" dirty="0">
                <a:solidFill>
                  <a:srgbClr val="404040"/>
                </a:solidFill>
              </a:rPr>
              <a:t> → </a:t>
            </a:r>
            <a:r>
              <a:rPr sz="2200" b="0" dirty="0" err="1">
                <a:solidFill>
                  <a:srgbClr val="404040"/>
                </a:solidFill>
              </a:rPr>
              <a:t>compilar</a:t>
            </a:r>
            <a:r>
              <a:rPr sz="2200" b="0" dirty="0">
                <a:solidFill>
                  <a:srgbClr val="404040"/>
                </a:solidFill>
              </a:rPr>
              <a:t> → pasar tests </a:t>
            </a:r>
            <a:r>
              <a:rPr sz="2200" b="0" dirty="0" err="1">
                <a:solidFill>
                  <a:srgbClr val="404040"/>
                </a:solidFill>
              </a:rPr>
              <a:t>funcionales</a:t>
            </a:r>
            <a:r>
              <a:rPr sz="2200" b="0" dirty="0">
                <a:solidFill>
                  <a:srgbClr val="404040"/>
                </a:solidFill>
              </a:rPr>
              <a:t> → </a:t>
            </a:r>
            <a:r>
              <a:rPr sz="2200" b="0" dirty="0" err="1">
                <a:solidFill>
                  <a:srgbClr val="404040"/>
                </a:solidFill>
              </a:rPr>
              <a:t>medir</a:t>
            </a:r>
            <a:r>
              <a:rPr sz="2200" b="0" dirty="0">
                <a:solidFill>
                  <a:srgbClr val="404040"/>
                </a:solidFill>
              </a:rPr>
              <a:t> fitness</a:t>
            </a:r>
            <a:endParaRPr lang="es-ES" sz="2200" b="0" dirty="0">
              <a:solidFill>
                <a:srgbClr val="404040"/>
              </a:solidFill>
            </a:endParaRPr>
          </a:p>
          <a:p>
            <a:pPr>
              <a:spcBef>
                <a:spcPts val="400"/>
              </a:spcBef>
            </a:pPr>
            <a:endParaRPr sz="2200" b="0" dirty="0">
              <a:solidFill>
                <a:srgbClr val="404040"/>
              </a:solidFill>
            </a:endParaRPr>
          </a:p>
          <a:p>
            <a:pPr>
              <a:spcBef>
                <a:spcPts val="400"/>
              </a:spcBef>
            </a:pPr>
            <a:r>
              <a:rPr sz="2200" b="0" dirty="0">
                <a:solidFill>
                  <a:srgbClr val="404040"/>
                </a:solidFill>
              </a:rPr>
              <a:t>▸ </a:t>
            </a:r>
            <a:r>
              <a:rPr sz="2200" b="0" dirty="0" err="1">
                <a:solidFill>
                  <a:srgbClr val="404040"/>
                </a:solidFill>
              </a:rPr>
              <a:t>Aplicaciones</a:t>
            </a:r>
            <a:r>
              <a:rPr sz="2200" b="0" dirty="0">
                <a:solidFill>
                  <a:srgbClr val="404040"/>
                </a:solidFill>
              </a:rPr>
              <a:t>: </a:t>
            </a:r>
            <a:r>
              <a:rPr sz="2200" b="0" dirty="0" err="1">
                <a:solidFill>
                  <a:srgbClr val="404040"/>
                </a:solidFill>
              </a:rPr>
              <a:t>reparación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automática</a:t>
            </a:r>
            <a:r>
              <a:rPr sz="2200" b="0" dirty="0">
                <a:solidFill>
                  <a:srgbClr val="404040"/>
                </a:solidFill>
              </a:rPr>
              <a:t> de bugs (APR), </a:t>
            </a:r>
            <a:r>
              <a:rPr sz="2200" b="0" dirty="0" err="1">
                <a:solidFill>
                  <a:srgbClr val="404040"/>
                </a:solidFill>
              </a:rPr>
              <a:t>optimización</a:t>
            </a:r>
            <a:r>
              <a:rPr sz="2200" b="0" dirty="0">
                <a:solidFill>
                  <a:srgbClr val="404040"/>
                </a:solidFill>
              </a:rPr>
              <a:t> de </a:t>
            </a:r>
            <a:r>
              <a:rPr sz="2200" b="0" dirty="0" err="1">
                <a:solidFill>
                  <a:srgbClr val="404040"/>
                </a:solidFill>
              </a:rPr>
              <a:t>rendimiento</a:t>
            </a:r>
            <a:endParaRPr lang="es-ES" sz="2200" b="0" dirty="0">
              <a:solidFill>
                <a:srgbClr val="404040"/>
              </a:solidFill>
            </a:endParaRPr>
          </a:p>
          <a:p>
            <a:pPr>
              <a:spcBef>
                <a:spcPts val="400"/>
              </a:spcBef>
            </a:pPr>
            <a:endParaRPr sz="2200" b="0" dirty="0">
              <a:solidFill>
                <a:srgbClr val="404040"/>
              </a:solidFill>
            </a:endParaRPr>
          </a:p>
          <a:p>
            <a:pPr>
              <a:spcBef>
                <a:spcPts val="400"/>
              </a:spcBef>
            </a:pPr>
            <a:r>
              <a:rPr sz="2200" b="1" dirty="0">
                <a:solidFill>
                  <a:srgbClr val="1F3864"/>
                </a:solidFill>
              </a:rPr>
              <a:t>▸ </a:t>
            </a:r>
            <a:r>
              <a:rPr sz="2200" b="1" dirty="0" err="1">
                <a:solidFill>
                  <a:srgbClr val="1F3864"/>
                </a:solidFill>
              </a:rPr>
              <a:t>Objetivo</a:t>
            </a:r>
            <a:r>
              <a:rPr lang="es-ES" sz="2200" b="1" dirty="0">
                <a:solidFill>
                  <a:srgbClr val="1F3864"/>
                </a:solidFill>
              </a:rPr>
              <a:t> en este trabajo</a:t>
            </a:r>
            <a:r>
              <a:rPr sz="2200" b="1" dirty="0">
                <a:solidFill>
                  <a:srgbClr val="1F3864"/>
                </a:solidFill>
              </a:rPr>
              <a:t>: </a:t>
            </a:r>
            <a:r>
              <a:rPr sz="2200" b="1" dirty="0" err="1">
                <a:solidFill>
                  <a:srgbClr val="1F3864"/>
                </a:solidFill>
              </a:rPr>
              <a:t>reducción</a:t>
            </a:r>
            <a:r>
              <a:rPr sz="2200" b="1" dirty="0">
                <a:solidFill>
                  <a:srgbClr val="1F3864"/>
                </a:solidFill>
              </a:rPr>
              <a:t> del </a:t>
            </a:r>
            <a:r>
              <a:rPr sz="2200" b="1" dirty="0" err="1">
                <a:solidFill>
                  <a:srgbClr val="1F3864"/>
                </a:solidFill>
              </a:rPr>
              <a:t>tiempo</a:t>
            </a:r>
            <a:r>
              <a:rPr sz="2200" b="1" dirty="0">
                <a:solidFill>
                  <a:srgbClr val="1F3864"/>
                </a:solidFill>
              </a:rPr>
              <a:t> de </a:t>
            </a:r>
            <a:r>
              <a:rPr sz="2200" b="1" dirty="0" err="1">
                <a:solidFill>
                  <a:srgbClr val="1F3864"/>
                </a:solidFill>
              </a:rPr>
              <a:t>ejecució</a:t>
            </a:r>
            <a:r>
              <a:rPr lang="es-ES" sz="2200" b="1" dirty="0">
                <a:solidFill>
                  <a:srgbClr val="1F3864"/>
                </a:solidFill>
              </a:rPr>
              <a:t>n,</a:t>
            </a:r>
            <a:r>
              <a:rPr sz="2200" b="1" dirty="0">
                <a:solidFill>
                  <a:srgbClr val="1F3864"/>
                </a:solidFill>
              </a:rPr>
              <a:t>  </a:t>
            </a:r>
            <a:r>
              <a:rPr sz="2200" b="1" dirty="0" err="1">
                <a:solidFill>
                  <a:srgbClr val="1F3864"/>
                </a:solidFill>
              </a:rPr>
              <a:t>manteniendo</a:t>
            </a:r>
            <a:r>
              <a:rPr sz="2200" b="1" dirty="0">
                <a:solidFill>
                  <a:srgbClr val="1F3864"/>
                </a:solidFill>
              </a:rPr>
              <a:t> la </a:t>
            </a:r>
            <a:r>
              <a:rPr lang="es-ES" sz="2200" b="1" dirty="0">
                <a:solidFill>
                  <a:srgbClr val="1F3864"/>
                </a:solidFill>
              </a:rPr>
              <a:t>funcionalidad</a:t>
            </a:r>
            <a:endParaRPr sz="2200" b="1" dirty="0">
              <a:solidFill>
                <a:srgbClr val="1F3864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825" y="5511422"/>
            <a:ext cx="1620000" cy="784830"/>
          </a:xfrm>
          <a:prstGeom prst="rect">
            <a:avLst/>
          </a:prstGeom>
          <a:solidFill>
            <a:srgbClr val="2E74B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873" y="5619423"/>
            <a:ext cx="1620000" cy="784830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algn="ctr"/>
            <a:r>
              <a:rPr sz="1500" b="1" i="0" dirty="0" err="1">
                <a:solidFill>
                  <a:srgbClr val="FFFFFF"/>
                </a:solidFill>
              </a:rPr>
              <a:t>Programa</a:t>
            </a:r>
            <a:r>
              <a:rPr sz="1500" b="1" i="0" dirty="0">
                <a:solidFill>
                  <a:srgbClr val="FFFFFF"/>
                </a:solidFill>
              </a:rPr>
              <a:t>
original</a:t>
            </a:r>
            <a:endParaRPr lang="es-ES" sz="1500" b="1" i="0" dirty="0">
              <a:solidFill>
                <a:srgbClr val="FFFFFF"/>
              </a:solidFill>
            </a:endParaRPr>
          </a:p>
          <a:p>
            <a:pPr algn="ctr"/>
            <a:endParaRPr sz="1500" b="1" i="0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68825" y="5511422"/>
            <a:ext cx="43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936825" y="5493422"/>
            <a:ext cx="1620000" cy="80283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9237" y="5624694"/>
            <a:ext cx="1620000" cy="3960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1500" b="1" i="0" dirty="0" err="1">
                <a:solidFill>
                  <a:srgbClr val="FFFFFF"/>
                </a:solidFill>
              </a:rPr>
              <a:t>Variante</a:t>
            </a:r>
            <a:r>
              <a:rPr sz="1500" b="1" i="0" dirty="0">
                <a:solidFill>
                  <a:srgbClr val="FFFFFF"/>
                </a:solidFill>
              </a:rPr>
              <a:t>
(patch)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8825" y="5511422"/>
            <a:ext cx="43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96825" y="5493421"/>
            <a:ext cx="1620000" cy="81000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56189" y="5624694"/>
            <a:ext cx="1620000" cy="3960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1500" b="1" i="0" dirty="0" err="1">
                <a:solidFill>
                  <a:srgbClr val="FFFFFF"/>
                </a:solidFill>
              </a:rPr>
              <a:t>Compilar</a:t>
            </a:r>
            <a:r>
              <a:rPr sz="1500" b="1" i="0" dirty="0">
                <a:solidFill>
                  <a:srgbClr val="FFFFFF"/>
                </a:solidFill>
              </a:rPr>
              <a:t>
+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8825" y="5511422"/>
            <a:ext cx="43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56825" y="5493422"/>
            <a:ext cx="1620000" cy="80283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77" y="5642694"/>
            <a:ext cx="1620000" cy="3960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1500" b="1" i="0" dirty="0" err="1">
                <a:solidFill>
                  <a:srgbClr val="FFFFFF"/>
                </a:solidFill>
              </a:rPr>
              <a:t>Medir</a:t>
            </a:r>
            <a:r>
              <a:rPr sz="1500" b="1" i="0" dirty="0">
                <a:solidFill>
                  <a:srgbClr val="FFFFFF"/>
                </a:solidFill>
              </a:rPr>
              <a:t>
fitness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8825" y="5511422"/>
            <a:ext cx="432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F3864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6825" y="5493422"/>
            <a:ext cx="1620000" cy="810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01650" y="5617278"/>
            <a:ext cx="1620000" cy="3960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Mejor
</a:t>
            </a:r>
            <a:r>
              <a:rPr sz="1500" b="1" i="0" dirty="0" err="1">
                <a:solidFill>
                  <a:srgbClr val="FFFFFF"/>
                </a:solidFill>
              </a:rPr>
              <a:t>variante</a:t>
            </a:r>
            <a:endParaRPr sz="15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l"/>
            <a:r>
              <a:rPr sz="2800" b="1" dirty="0" err="1">
                <a:solidFill>
                  <a:srgbClr val="FFFFFF"/>
                </a:solidFill>
              </a:rPr>
              <a:t>Metaheurísticas</a:t>
            </a:r>
            <a:r>
              <a:rPr sz="2800" b="1" dirty="0">
                <a:solidFill>
                  <a:srgbClr val="FFFFFF"/>
                </a:solidFill>
              </a:rPr>
              <a:t> </a:t>
            </a:r>
            <a:r>
              <a:rPr sz="2800" b="1" dirty="0" err="1">
                <a:solidFill>
                  <a:srgbClr val="FFFFFF"/>
                </a:solidFill>
              </a:rPr>
              <a:t>en</a:t>
            </a:r>
            <a:r>
              <a:rPr sz="2800" b="1" dirty="0">
                <a:solidFill>
                  <a:srgbClr val="FFFFFF"/>
                </a:solidFill>
              </a:rPr>
              <a:t> GI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" y="6624000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Pablo Bermejo · UCLM · JISBD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900000"/>
            <a:ext cx="10896264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</a:pPr>
            <a:r>
              <a:rPr sz="2200" b="0" dirty="0">
                <a:solidFill>
                  <a:srgbClr val="404040"/>
                </a:solidFill>
              </a:rPr>
              <a:t>▸ </a:t>
            </a:r>
            <a:r>
              <a:rPr sz="2200" b="0" dirty="0" err="1">
                <a:solidFill>
                  <a:srgbClr val="404040"/>
                </a:solidFill>
              </a:rPr>
              <a:t>Programación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Genética</a:t>
            </a:r>
            <a:r>
              <a:rPr sz="2200" b="0" dirty="0">
                <a:solidFill>
                  <a:srgbClr val="404040"/>
                </a:solidFill>
              </a:rPr>
              <a:t> (GP): </a:t>
            </a:r>
            <a:r>
              <a:rPr sz="2200" b="0" dirty="0" err="1">
                <a:solidFill>
                  <a:srgbClr val="404040"/>
                </a:solidFill>
              </a:rPr>
              <a:t>estrategia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dominante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históricamente</a:t>
            </a:r>
            <a:r>
              <a:rPr sz="2200" b="0" dirty="0">
                <a:solidFill>
                  <a:srgbClr val="404040"/>
                </a:solidFill>
              </a:rPr>
              <a:t>
    → cruces y </a:t>
            </a:r>
            <a:r>
              <a:rPr sz="2200" b="0" dirty="0" err="1">
                <a:solidFill>
                  <a:srgbClr val="404040"/>
                </a:solidFill>
              </a:rPr>
              <a:t>mutaciones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en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el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espacio</a:t>
            </a:r>
            <a:r>
              <a:rPr sz="2200" b="0" dirty="0">
                <a:solidFill>
                  <a:srgbClr val="404040"/>
                </a:solidFill>
              </a:rPr>
              <a:t> de </a:t>
            </a:r>
            <a:r>
              <a:rPr sz="2200" b="0" dirty="0" err="1">
                <a:solidFill>
                  <a:srgbClr val="404040"/>
                </a:solidFill>
              </a:rPr>
              <a:t>variantes</a:t>
            </a:r>
            <a:endParaRPr lang="es-ES" sz="2200" b="0" dirty="0">
              <a:solidFill>
                <a:srgbClr val="404040"/>
              </a:solidFill>
            </a:endParaRPr>
          </a:p>
          <a:p>
            <a:pPr algn="just">
              <a:spcBef>
                <a:spcPts val="400"/>
              </a:spcBef>
            </a:pPr>
            <a:endParaRPr sz="2200" b="0" dirty="0">
              <a:solidFill>
                <a:srgbClr val="404040"/>
              </a:solidFill>
            </a:endParaRPr>
          </a:p>
          <a:p>
            <a:pPr algn="just">
              <a:spcBef>
                <a:spcPts val="400"/>
              </a:spcBef>
            </a:pPr>
            <a:r>
              <a:rPr sz="2200" b="0" dirty="0">
                <a:solidFill>
                  <a:srgbClr val="404040"/>
                </a:solidFill>
              </a:rPr>
              <a:t>▸ </a:t>
            </a:r>
            <a:r>
              <a:rPr sz="2200" b="0" dirty="0" err="1">
                <a:solidFill>
                  <a:srgbClr val="404040"/>
                </a:solidFill>
              </a:rPr>
              <a:t>Búsqueda</a:t>
            </a:r>
            <a:r>
              <a:rPr sz="2200" b="0" dirty="0">
                <a:solidFill>
                  <a:srgbClr val="404040"/>
                </a:solidFill>
              </a:rPr>
              <a:t> Local (LS): hill climbing first-improvement
    → </a:t>
            </a:r>
            <a:r>
              <a:rPr sz="2200" b="0" dirty="0" err="1">
                <a:solidFill>
                  <a:srgbClr val="404040"/>
                </a:solidFill>
              </a:rPr>
              <a:t>más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efectiva</a:t>
            </a:r>
            <a:r>
              <a:rPr sz="2200" b="0" dirty="0">
                <a:solidFill>
                  <a:srgbClr val="404040"/>
                </a:solidFill>
              </a:rPr>
              <a:t> y </a:t>
            </a:r>
            <a:r>
              <a:rPr sz="2200" b="0" dirty="0" err="1">
                <a:solidFill>
                  <a:srgbClr val="404040"/>
                </a:solidFill>
              </a:rPr>
              <a:t>eficiente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que</a:t>
            </a:r>
            <a:r>
              <a:rPr sz="2200" b="0" dirty="0">
                <a:solidFill>
                  <a:srgbClr val="404040"/>
                </a:solidFill>
              </a:rPr>
              <a:t> GP (Blot &amp; Petke, 2021, 18 </a:t>
            </a:r>
            <a:r>
              <a:rPr sz="2200" b="0" dirty="0" err="1">
                <a:solidFill>
                  <a:srgbClr val="404040"/>
                </a:solidFill>
              </a:rPr>
              <a:t>estrategias</a:t>
            </a:r>
            <a:r>
              <a:rPr sz="2200" b="0" dirty="0">
                <a:solidFill>
                  <a:srgbClr val="404040"/>
                </a:solidFill>
              </a:rPr>
              <a:t>)</a:t>
            </a:r>
            <a:endParaRPr lang="es-ES" sz="2200" b="0" dirty="0">
              <a:solidFill>
                <a:srgbClr val="404040"/>
              </a:solidFill>
            </a:endParaRPr>
          </a:p>
          <a:p>
            <a:pPr algn="just">
              <a:spcBef>
                <a:spcPts val="400"/>
              </a:spcBef>
            </a:pPr>
            <a:endParaRPr sz="2200" b="0" dirty="0">
              <a:solidFill>
                <a:srgbClr val="404040"/>
              </a:solidFill>
            </a:endParaRPr>
          </a:p>
          <a:p>
            <a:pPr algn="just">
              <a:spcBef>
                <a:spcPts val="400"/>
              </a:spcBef>
            </a:pPr>
            <a:r>
              <a:rPr sz="2200" b="0" dirty="0">
                <a:solidFill>
                  <a:srgbClr val="404040"/>
                </a:solidFill>
              </a:rPr>
              <a:t>▸ </a:t>
            </a:r>
            <a:r>
              <a:rPr sz="2200" b="0" dirty="0" err="1">
                <a:solidFill>
                  <a:srgbClr val="404040"/>
                </a:solidFill>
              </a:rPr>
              <a:t>Búsqueda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Aleatoria</a:t>
            </a:r>
            <a:r>
              <a:rPr sz="2200" b="0" dirty="0">
                <a:solidFill>
                  <a:srgbClr val="404040"/>
                </a:solidFill>
              </a:rPr>
              <a:t> (RS): </a:t>
            </a:r>
            <a:r>
              <a:rPr sz="2200" b="0" dirty="0" err="1">
                <a:solidFill>
                  <a:srgbClr val="404040"/>
                </a:solidFill>
              </a:rPr>
              <a:t>sorprendentemente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competitiva</a:t>
            </a:r>
            <a:r>
              <a:rPr sz="2200" b="0" dirty="0">
                <a:solidFill>
                  <a:srgbClr val="404040"/>
                </a:solidFill>
              </a:rPr>
              <a:t> a </a:t>
            </a:r>
            <a:r>
              <a:rPr sz="2200" b="0" dirty="0" err="1">
                <a:solidFill>
                  <a:srgbClr val="404040"/>
                </a:solidFill>
              </a:rPr>
              <a:t>veces</a:t>
            </a:r>
            <a:r>
              <a:rPr sz="2200" b="0" dirty="0">
                <a:solidFill>
                  <a:srgbClr val="404040"/>
                </a:solidFill>
              </a:rPr>
              <a:t>
    → </a:t>
            </a:r>
            <a:r>
              <a:rPr sz="2200" b="0" dirty="0" err="1">
                <a:solidFill>
                  <a:srgbClr val="404040"/>
                </a:solidFill>
              </a:rPr>
              <a:t>evidencia</a:t>
            </a:r>
            <a:r>
              <a:rPr sz="2200" b="0" dirty="0">
                <a:solidFill>
                  <a:srgbClr val="404040"/>
                </a:solidFill>
              </a:rPr>
              <a:t> la </a:t>
            </a:r>
            <a:r>
              <a:rPr sz="2200" b="0" dirty="0" err="1">
                <a:solidFill>
                  <a:srgbClr val="404040"/>
                </a:solidFill>
              </a:rPr>
              <a:t>complejidad</a:t>
            </a:r>
            <a:r>
              <a:rPr sz="2200" b="0" dirty="0">
                <a:solidFill>
                  <a:srgbClr val="404040"/>
                </a:solidFill>
              </a:rPr>
              <a:t> del </a:t>
            </a:r>
            <a:r>
              <a:rPr sz="2200" b="0" dirty="0" err="1">
                <a:solidFill>
                  <a:srgbClr val="404040"/>
                </a:solidFill>
              </a:rPr>
              <a:t>espacio</a:t>
            </a:r>
            <a:r>
              <a:rPr sz="2200" b="0" dirty="0">
                <a:solidFill>
                  <a:srgbClr val="404040"/>
                </a:solidFill>
              </a:rPr>
              <a:t> de </a:t>
            </a:r>
            <a:r>
              <a:rPr sz="2200" b="0" dirty="0" err="1">
                <a:solidFill>
                  <a:srgbClr val="404040"/>
                </a:solidFill>
              </a:rPr>
              <a:t>búsqueda</a:t>
            </a:r>
            <a:endParaRPr lang="es-ES" sz="2200" b="0" dirty="0">
              <a:solidFill>
                <a:srgbClr val="404040"/>
              </a:solidFill>
            </a:endParaRPr>
          </a:p>
          <a:p>
            <a:pPr algn="just">
              <a:spcBef>
                <a:spcPts val="400"/>
              </a:spcBef>
            </a:pPr>
            <a:endParaRPr sz="2200" b="0" dirty="0">
              <a:solidFill>
                <a:srgbClr val="404040"/>
              </a:solidFill>
            </a:endParaRPr>
          </a:p>
          <a:p>
            <a:pPr algn="just">
              <a:spcBef>
                <a:spcPts val="400"/>
              </a:spcBef>
            </a:pPr>
            <a:r>
              <a:rPr sz="2200" b="0" dirty="0">
                <a:solidFill>
                  <a:srgbClr val="404040"/>
                </a:solidFill>
              </a:rPr>
              <a:t>▸ MAGPIE: framework </a:t>
            </a:r>
            <a:r>
              <a:rPr sz="2200" b="0" dirty="0" err="1">
                <a:solidFill>
                  <a:srgbClr val="404040"/>
                </a:solidFill>
              </a:rPr>
              <a:t>unificado</a:t>
            </a:r>
            <a:r>
              <a:rPr sz="2200" b="0" dirty="0">
                <a:solidFill>
                  <a:srgbClr val="404040"/>
                </a:solidFill>
              </a:rPr>
              <a:t> para </a:t>
            </a:r>
            <a:r>
              <a:rPr sz="2200" b="0" dirty="0" err="1">
                <a:solidFill>
                  <a:srgbClr val="404040"/>
                </a:solidFill>
              </a:rPr>
              <a:t>comparar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algoritmos</a:t>
            </a:r>
            <a:r>
              <a:rPr sz="2200" b="0" dirty="0">
                <a:solidFill>
                  <a:srgbClr val="404040"/>
                </a:solidFill>
              </a:rPr>
              <a:t> de GI
    (</a:t>
            </a:r>
            <a:r>
              <a:rPr sz="2200" b="0" dirty="0" err="1">
                <a:solidFill>
                  <a:srgbClr val="404040"/>
                </a:solidFill>
              </a:rPr>
              <a:t>representación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estándar</a:t>
            </a:r>
            <a:r>
              <a:rPr sz="2200" b="0" dirty="0">
                <a:solidFill>
                  <a:srgbClr val="404040"/>
                </a:solidFill>
              </a:rPr>
              <a:t> de edits, cross-validation, </a:t>
            </a:r>
            <a:r>
              <a:rPr sz="2200" b="0" dirty="0" err="1">
                <a:solidFill>
                  <a:srgbClr val="404040"/>
                </a:solidFill>
              </a:rPr>
              <a:t>reproducibilidad</a:t>
            </a:r>
            <a:r>
              <a:rPr sz="2200" b="0" dirty="0">
                <a:solidFill>
                  <a:srgbClr val="404040"/>
                </a:solidFill>
              </a:rPr>
              <a:t>)</a:t>
            </a:r>
            <a:endParaRPr lang="es-ES" sz="2200" b="0" dirty="0">
              <a:solidFill>
                <a:srgbClr val="404040"/>
              </a:solidFill>
            </a:endParaRPr>
          </a:p>
          <a:p>
            <a:pPr algn="just">
              <a:spcBef>
                <a:spcPts val="400"/>
              </a:spcBef>
            </a:pPr>
            <a:endParaRPr sz="2200" b="0" dirty="0">
              <a:solidFill>
                <a:srgbClr val="404040"/>
              </a:solidFill>
            </a:endParaRPr>
          </a:p>
          <a:p>
            <a:pPr algn="just">
              <a:spcBef>
                <a:spcPts val="400"/>
              </a:spcBef>
            </a:pPr>
            <a:r>
              <a:rPr sz="2200" b="1" dirty="0">
                <a:solidFill>
                  <a:srgbClr val="C55A11"/>
                </a:solidFill>
              </a:rPr>
              <a:t>▸ ¿</a:t>
            </a:r>
            <a:r>
              <a:rPr lang="es-ES" sz="2200" b="1" dirty="0">
                <a:solidFill>
                  <a:srgbClr val="C55A11"/>
                </a:solidFill>
              </a:rPr>
              <a:t>E</a:t>
            </a:r>
            <a:r>
              <a:rPr sz="2200" b="1" dirty="0" err="1">
                <a:solidFill>
                  <a:srgbClr val="C55A11"/>
                </a:solidFill>
              </a:rPr>
              <a:t>xiste</a:t>
            </a:r>
            <a:r>
              <a:rPr sz="2200" b="1" dirty="0">
                <a:solidFill>
                  <a:srgbClr val="C55A11"/>
                </a:solidFill>
              </a:rPr>
              <a:t> </a:t>
            </a:r>
            <a:r>
              <a:rPr sz="2200" b="1" dirty="0" err="1">
                <a:solidFill>
                  <a:srgbClr val="C55A11"/>
                </a:solidFill>
              </a:rPr>
              <a:t>una</a:t>
            </a:r>
            <a:r>
              <a:rPr sz="2200" b="1" dirty="0">
                <a:solidFill>
                  <a:srgbClr val="C55A11"/>
                </a:solidFill>
              </a:rPr>
              <a:t> </a:t>
            </a:r>
            <a:r>
              <a:rPr sz="2200" b="1" dirty="0" err="1">
                <a:solidFill>
                  <a:srgbClr val="C55A11"/>
                </a:solidFill>
              </a:rPr>
              <a:t>metaheurística</a:t>
            </a:r>
            <a:r>
              <a:rPr sz="2200" b="1" dirty="0">
                <a:solidFill>
                  <a:srgbClr val="C55A11"/>
                </a:solidFill>
              </a:rPr>
              <a:t> robusta y general</a:t>
            </a:r>
            <a:r>
              <a:rPr lang="es-ES" sz="2200" b="1" dirty="0">
                <a:solidFill>
                  <a:srgbClr val="C55A11"/>
                </a:solidFill>
              </a:rPr>
              <a:t> </a:t>
            </a:r>
            <a:r>
              <a:rPr sz="2200" b="1" dirty="0">
                <a:solidFill>
                  <a:srgbClr val="C55A11"/>
                </a:solidFill>
              </a:rPr>
              <a:t>para la </a:t>
            </a:r>
            <a:r>
              <a:rPr lang="es-ES" sz="2200" b="1" dirty="0">
                <a:solidFill>
                  <a:srgbClr val="C55A11"/>
                </a:solidFill>
              </a:rPr>
              <a:t>Mejora </a:t>
            </a:r>
            <a:r>
              <a:rPr sz="2200" b="1" dirty="0" err="1">
                <a:solidFill>
                  <a:srgbClr val="C55A11"/>
                </a:solidFill>
              </a:rPr>
              <a:t>Genética</a:t>
            </a:r>
            <a:r>
              <a:rPr sz="2200" b="1" dirty="0">
                <a:solidFill>
                  <a:srgbClr val="C55A11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Hipótesis — ¿Por qué un Algoritmo de Estimación de Distribuciones?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" y="6624000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Pablo Bermejo · UCLM · JISBD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900000"/>
            <a:ext cx="7380000" cy="4903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400"/>
              </a:spcBef>
            </a:pPr>
            <a:r>
              <a:rPr sz="2200" b="0" dirty="0">
                <a:solidFill>
                  <a:srgbClr val="404040"/>
                </a:solidFill>
              </a:rPr>
              <a:t>▸ El </a:t>
            </a:r>
            <a:r>
              <a:rPr sz="2200" b="0" dirty="0" err="1">
                <a:solidFill>
                  <a:srgbClr val="404040"/>
                </a:solidFill>
              </a:rPr>
              <a:t>espacio</a:t>
            </a:r>
            <a:r>
              <a:rPr sz="2200" b="0" dirty="0">
                <a:solidFill>
                  <a:srgbClr val="404040"/>
                </a:solidFill>
              </a:rPr>
              <a:t> de </a:t>
            </a:r>
            <a:r>
              <a:rPr sz="2200" b="0" dirty="0" err="1">
                <a:solidFill>
                  <a:srgbClr val="404040"/>
                </a:solidFill>
              </a:rPr>
              <a:t>variantes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en</a:t>
            </a:r>
            <a:r>
              <a:rPr sz="2200" b="0" dirty="0">
                <a:solidFill>
                  <a:srgbClr val="404040"/>
                </a:solidFill>
              </a:rPr>
              <a:t> GI </a:t>
            </a:r>
            <a:r>
              <a:rPr sz="2200" b="0" dirty="0" err="1">
                <a:solidFill>
                  <a:srgbClr val="404040"/>
                </a:solidFill>
              </a:rPr>
              <a:t>está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dominado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por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variantes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inválidas</a:t>
            </a:r>
            <a:r>
              <a:rPr sz="2200" b="0" dirty="0">
                <a:solidFill>
                  <a:srgbClr val="404040"/>
                </a:solidFill>
              </a:rPr>
              <a:t> (no </a:t>
            </a:r>
            <a:r>
              <a:rPr sz="2200" b="0" dirty="0" err="1">
                <a:solidFill>
                  <a:srgbClr val="404040"/>
                </a:solidFill>
              </a:rPr>
              <a:t>compilan</a:t>
            </a:r>
            <a:r>
              <a:rPr sz="2200" b="0" dirty="0">
                <a:solidFill>
                  <a:srgbClr val="404040"/>
                </a:solidFill>
              </a:rPr>
              <a:t> o no </a:t>
            </a:r>
            <a:r>
              <a:rPr sz="2200" b="0" dirty="0" err="1">
                <a:solidFill>
                  <a:srgbClr val="404040"/>
                </a:solidFill>
              </a:rPr>
              <a:t>pasan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los</a:t>
            </a:r>
            <a:r>
              <a:rPr sz="2200" b="0" dirty="0">
                <a:solidFill>
                  <a:srgbClr val="404040"/>
                </a:solidFill>
              </a:rPr>
              <a:t> tests </a:t>
            </a:r>
            <a:r>
              <a:rPr sz="2200" b="0" dirty="0" err="1">
                <a:solidFill>
                  <a:srgbClr val="404040"/>
                </a:solidFill>
              </a:rPr>
              <a:t>funcionales</a:t>
            </a:r>
            <a:r>
              <a:rPr sz="2200" b="0" dirty="0">
                <a:solidFill>
                  <a:srgbClr val="404040"/>
                </a:solidFill>
              </a:rPr>
              <a:t>)</a:t>
            </a:r>
            <a:endParaRPr lang="es-ES" sz="2200" b="0" dirty="0">
              <a:solidFill>
                <a:srgbClr val="404040"/>
              </a:solidFill>
            </a:endParaRPr>
          </a:p>
          <a:p>
            <a:pPr algn="just">
              <a:spcBef>
                <a:spcPts val="400"/>
              </a:spcBef>
            </a:pPr>
            <a:endParaRPr sz="2200" b="0" dirty="0">
              <a:solidFill>
                <a:srgbClr val="404040"/>
              </a:solidFill>
            </a:endParaRPr>
          </a:p>
          <a:p>
            <a:pPr algn="just">
              <a:spcBef>
                <a:spcPts val="400"/>
              </a:spcBef>
            </a:pPr>
            <a:r>
              <a:rPr sz="2200" b="0" dirty="0">
                <a:solidFill>
                  <a:srgbClr val="404040"/>
                </a:solidFill>
              </a:rPr>
              <a:t>▸ GP: </a:t>
            </a:r>
            <a:r>
              <a:rPr sz="2200" b="0" dirty="0" err="1">
                <a:solidFill>
                  <a:srgbClr val="404040"/>
                </a:solidFill>
              </a:rPr>
              <a:t>saltos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globales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ciegos</a:t>
            </a:r>
            <a:r>
              <a:rPr sz="2200" b="0" dirty="0">
                <a:solidFill>
                  <a:srgbClr val="404040"/>
                </a:solidFill>
              </a:rPr>
              <a:t> → </a:t>
            </a:r>
            <a:r>
              <a:rPr sz="2200" b="0" dirty="0" err="1">
                <a:solidFill>
                  <a:srgbClr val="404040"/>
                </a:solidFill>
              </a:rPr>
              <a:t>alta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probabilidad</a:t>
            </a:r>
            <a:r>
              <a:rPr sz="2200" b="0" dirty="0">
                <a:solidFill>
                  <a:srgbClr val="404040"/>
                </a:solidFill>
              </a:rPr>
              <a:t> de </a:t>
            </a:r>
            <a:r>
              <a:rPr sz="2200" b="0" dirty="0" err="1">
                <a:solidFill>
                  <a:srgbClr val="404040"/>
                </a:solidFill>
              </a:rPr>
              <a:t>caer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en</a:t>
            </a:r>
            <a:r>
              <a:rPr sz="2200" b="0" dirty="0">
                <a:solidFill>
                  <a:srgbClr val="404040"/>
                </a:solidFill>
              </a:rPr>
              <a:t> zonas </a:t>
            </a:r>
            <a:r>
              <a:rPr sz="2200" b="0" dirty="0" err="1">
                <a:solidFill>
                  <a:srgbClr val="404040"/>
                </a:solidFill>
              </a:rPr>
              <a:t>inválidas</a:t>
            </a:r>
            <a:endParaRPr lang="es-ES" sz="2200" b="0" dirty="0">
              <a:solidFill>
                <a:srgbClr val="404040"/>
              </a:solidFill>
            </a:endParaRPr>
          </a:p>
          <a:p>
            <a:pPr algn="just">
              <a:spcBef>
                <a:spcPts val="400"/>
              </a:spcBef>
            </a:pPr>
            <a:endParaRPr sz="2200" b="0" dirty="0">
              <a:solidFill>
                <a:srgbClr val="404040"/>
              </a:solidFill>
            </a:endParaRPr>
          </a:p>
          <a:p>
            <a:pPr algn="just">
              <a:spcBef>
                <a:spcPts val="400"/>
              </a:spcBef>
            </a:pPr>
            <a:r>
              <a:rPr sz="2200" b="0" dirty="0">
                <a:solidFill>
                  <a:srgbClr val="404040"/>
                </a:solidFill>
              </a:rPr>
              <a:t>▸ LS: </a:t>
            </a:r>
            <a:r>
              <a:rPr sz="2200" b="0" dirty="0" err="1">
                <a:solidFill>
                  <a:srgbClr val="404040"/>
                </a:solidFill>
              </a:rPr>
              <a:t>avance</a:t>
            </a:r>
            <a:r>
              <a:rPr sz="2200" b="0" dirty="0">
                <a:solidFill>
                  <a:srgbClr val="404040"/>
                </a:solidFill>
              </a:rPr>
              <a:t> local </a:t>
            </a:r>
            <a:r>
              <a:rPr sz="2200" b="0" dirty="0" err="1">
                <a:solidFill>
                  <a:srgbClr val="404040"/>
                </a:solidFill>
              </a:rPr>
              <a:t>seguro</a:t>
            </a:r>
            <a:r>
              <a:rPr sz="2200" b="0" dirty="0">
                <a:solidFill>
                  <a:srgbClr val="404040"/>
                </a:solidFill>
              </a:rPr>
              <a:t> → </a:t>
            </a:r>
            <a:r>
              <a:rPr sz="2200" b="0" dirty="0" err="1">
                <a:solidFill>
                  <a:srgbClr val="404040"/>
                </a:solidFill>
              </a:rPr>
              <a:t>riesgo</a:t>
            </a:r>
            <a:r>
              <a:rPr sz="2200" b="0" dirty="0">
                <a:solidFill>
                  <a:srgbClr val="404040"/>
                </a:solidFill>
              </a:rPr>
              <a:t> de </a:t>
            </a:r>
            <a:r>
              <a:rPr sz="2200" b="0" dirty="0" err="1">
                <a:solidFill>
                  <a:srgbClr val="404040"/>
                </a:solidFill>
              </a:rPr>
              <a:t>quedar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atrapada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en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mínimos</a:t>
            </a:r>
            <a:r>
              <a:rPr sz="2200" b="0" dirty="0">
                <a:solidFill>
                  <a:srgbClr val="404040"/>
                </a:solidFill>
              </a:rPr>
              <a:t> locales</a:t>
            </a:r>
            <a:endParaRPr lang="es-ES" sz="2200" b="0" dirty="0">
              <a:solidFill>
                <a:srgbClr val="404040"/>
              </a:solidFill>
            </a:endParaRPr>
          </a:p>
          <a:p>
            <a:pPr algn="just">
              <a:spcBef>
                <a:spcPts val="400"/>
              </a:spcBef>
            </a:pPr>
            <a:endParaRPr sz="2200" b="0" dirty="0">
              <a:solidFill>
                <a:srgbClr val="404040"/>
              </a:solidFill>
            </a:endParaRPr>
          </a:p>
          <a:p>
            <a:pPr algn="just">
              <a:spcBef>
                <a:spcPts val="400"/>
              </a:spcBef>
            </a:pPr>
            <a:r>
              <a:rPr sz="2200" b="1" dirty="0">
                <a:solidFill>
                  <a:srgbClr val="1F3864"/>
                </a:solidFill>
              </a:rPr>
              <a:t>▸ EDA (UMDA): </a:t>
            </a:r>
            <a:r>
              <a:rPr sz="2200" b="1" dirty="0" err="1">
                <a:solidFill>
                  <a:srgbClr val="1F3864"/>
                </a:solidFill>
              </a:rPr>
              <a:t>aprende</a:t>
            </a:r>
            <a:r>
              <a:rPr sz="2200" b="1" dirty="0">
                <a:solidFill>
                  <a:srgbClr val="1F3864"/>
                </a:solidFill>
              </a:rPr>
              <a:t> </a:t>
            </a:r>
            <a:r>
              <a:rPr sz="2200" b="1" dirty="0" err="1">
                <a:solidFill>
                  <a:srgbClr val="1F3864"/>
                </a:solidFill>
              </a:rPr>
              <a:t>distribución</a:t>
            </a:r>
            <a:r>
              <a:rPr sz="2200" b="1" dirty="0">
                <a:solidFill>
                  <a:srgbClr val="1F3864"/>
                </a:solidFill>
              </a:rPr>
              <a:t> marginal </a:t>
            </a:r>
            <a:r>
              <a:rPr sz="2200" b="1" dirty="0" err="1">
                <a:solidFill>
                  <a:srgbClr val="1F3864"/>
                </a:solidFill>
              </a:rPr>
              <a:t>sobre</a:t>
            </a:r>
            <a:r>
              <a:rPr sz="2200" b="1" dirty="0">
                <a:solidFill>
                  <a:srgbClr val="1F3864"/>
                </a:solidFill>
              </a:rPr>
              <a:t> </a:t>
            </a:r>
            <a:r>
              <a:rPr sz="2200" b="1" dirty="0" err="1">
                <a:solidFill>
                  <a:srgbClr val="1F3864"/>
                </a:solidFill>
              </a:rPr>
              <a:t>los</a:t>
            </a:r>
            <a:r>
              <a:rPr sz="2200" b="1" dirty="0">
                <a:solidFill>
                  <a:srgbClr val="1F3864"/>
                </a:solidFill>
              </a:rPr>
              <a:t> edits </a:t>
            </a:r>
            <a:r>
              <a:rPr sz="2200" b="1" dirty="0" err="1">
                <a:solidFill>
                  <a:srgbClr val="1F3864"/>
                </a:solidFill>
              </a:rPr>
              <a:t>que</a:t>
            </a:r>
            <a:r>
              <a:rPr sz="2200" b="1" dirty="0">
                <a:solidFill>
                  <a:srgbClr val="1F3864"/>
                </a:solidFill>
              </a:rPr>
              <a:t> </a:t>
            </a:r>
            <a:r>
              <a:rPr sz="2200" b="1" dirty="0" err="1">
                <a:solidFill>
                  <a:srgbClr val="1F3864"/>
                </a:solidFill>
              </a:rPr>
              <a:t>producen</a:t>
            </a:r>
            <a:r>
              <a:rPr lang="es-ES" sz="2200" b="1" dirty="0">
                <a:solidFill>
                  <a:srgbClr val="1F3864"/>
                </a:solidFill>
              </a:rPr>
              <a:t> </a:t>
            </a:r>
            <a:r>
              <a:rPr sz="2200" b="1" dirty="0">
                <a:solidFill>
                  <a:srgbClr val="1F3864"/>
                </a:solidFill>
              </a:rPr>
              <a:t> </a:t>
            </a:r>
            <a:r>
              <a:rPr sz="2200" b="1" dirty="0" err="1">
                <a:solidFill>
                  <a:srgbClr val="1F3864"/>
                </a:solidFill>
              </a:rPr>
              <a:t>variantes</a:t>
            </a:r>
            <a:r>
              <a:rPr sz="2200" b="1" dirty="0">
                <a:solidFill>
                  <a:srgbClr val="1F3864"/>
                </a:solidFill>
              </a:rPr>
              <a:t> </a:t>
            </a:r>
            <a:r>
              <a:rPr sz="2200" b="1" dirty="0" err="1">
                <a:solidFill>
                  <a:srgbClr val="1F3864"/>
                </a:solidFill>
              </a:rPr>
              <a:t>válidas</a:t>
            </a:r>
            <a:r>
              <a:rPr sz="2200" b="1" dirty="0">
                <a:solidFill>
                  <a:srgbClr val="1F3864"/>
                </a:solidFill>
              </a:rPr>
              <a:t> → </a:t>
            </a:r>
            <a:r>
              <a:rPr sz="2200" b="1" dirty="0" err="1">
                <a:solidFill>
                  <a:srgbClr val="1F3864"/>
                </a:solidFill>
              </a:rPr>
              <a:t>saltos</a:t>
            </a:r>
            <a:r>
              <a:rPr sz="2200" b="1" dirty="0">
                <a:solidFill>
                  <a:srgbClr val="1F3864"/>
                </a:solidFill>
              </a:rPr>
              <a:t> </a:t>
            </a:r>
            <a:r>
              <a:rPr sz="2200" b="1" dirty="0" err="1">
                <a:solidFill>
                  <a:srgbClr val="1F3864"/>
                </a:solidFill>
              </a:rPr>
              <a:t>globales</a:t>
            </a:r>
            <a:r>
              <a:rPr sz="2200" b="1" dirty="0">
                <a:solidFill>
                  <a:srgbClr val="1F3864"/>
                </a:solidFill>
              </a:rPr>
              <a:t> </a:t>
            </a:r>
            <a:r>
              <a:rPr sz="2200" b="1" dirty="0" err="1">
                <a:solidFill>
                  <a:srgbClr val="1F3864"/>
                </a:solidFill>
              </a:rPr>
              <a:t>informados</a:t>
            </a:r>
            <a:endParaRPr sz="2200" b="1" dirty="0">
              <a:solidFill>
                <a:srgbClr val="1F3864"/>
              </a:solidFill>
            </a:endParaRPr>
          </a:p>
          <a:p>
            <a:pPr algn="just">
              <a:spcBef>
                <a:spcPts val="400"/>
              </a:spcBef>
            </a:pPr>
            <a:r>
              <a:rPr sz="2200" b="0" dirty="0">
                <a:solidFill>
                  <a:srgbClr val="404040"/>
                </a:solidFill>
              </a:rPr>
              <a:t>▸ </a:t>
            </a:r>
            <a:r>
              <a:rPr sz="2200" b="0" dirty="0" err="1">
                <a:solidFill>
                  <a:srgbClr val="404040"/>
                </a:solidFill>
              </a:rPr>
              <a:t>Ventaja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adicional</a:t>
            </a:r>
            <a:r>
              <a:rPr sz="2200" b="0" dirty="0">
                <a:solidFill>
                  <a:srgbClr val="404040"/>
                </a:solidFill>
              </a:rPr>
              <a:t>: sin </a:t>
            </a:r>
            <a:r>
              <a:rPr sz="2200" b="0" dirty="0" err="1">
                <a:solidFill>
                  <a:srgbClr val="404040"/>
                </a:solidFill>
              </a:rPr>
              <a:t>hiperparámetros</a:t>
            </a:r>
            <a:r>
              <a:rPr sz="2200" b="0" dirty="0">
                <a:solidFill>
                  <a:srgbClr val="404040"/>
                </a:solidFill>
              </a:rPr>
              <a:t> de </a:t>
            </a:r>
            <a:r>
              <a:rPr sz="2200" b="0" dirty="0" err="1">
                <a:solidFill>
                  <a:srgbClr val="404040"/>
                </a:solidFill>
              </a:rPr>
              <a:t>cruce</a:t>
            </a:r>
            <a:r>
              <a:rPr sz="2200" b="0" dirty="0">
                <a:solidFill>
                  <a:srgbClr val="404040"/>
                </a:solidFill>
              </a:rPr>
              <a:t>/</a:t>
            </a:r>
            <a:r>
              <a:rPr sz="2200" b="0" dirty="0" err="1">
                <a:solidFill>
                  <a:srgbClr val="404040"/>
                </a:solidFill>
              </a:rPr>
              <a:t>mutación</a:t>
            </a:r>
            <a:r>
              <a:rPr sz="2200" b="0" dirty="0">
                <a:solidFill>
                  <a:srgbClr val="404040"/>
                </a:solidFill>
              </a:rPr>
              <a:t>
    → </a:t>
            </a:r>
            <a:r>
              <a:rPr sz="2200" b="0" dirty="0" err="1">
                <a:solidFill>
                  <a:srgbClr val="404040"/>
                </a:solidFill>
              </a:rPr>
              <a:t>configuración</a:t>
            </a:r>
            <a:r>
              <a:rPr sz="2200" b="0" dirty="0">
                <a:solidFill>
                  <a:srgbClr val="404040"/>
                </a:solidFill>
              </a:rPr>
              <a:t> simple y </a:t>
            </a:r>
            <a:r>
              <a:rPr sz="2200" b="0" dirty="0" err="1">
                <a:solidFill>
                  <a:srgbClr val="404040"/>
                </a:solidFill>
              </a:rPr>
              <a:t>resultados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más</a:t>
            </a:r>
            <a:r>
              <a:rPr sz="2200" b="0" dirty="0">
                <a:solidFill>
                  <a:srgbClr val="404040"/>
                </a:solidFill>
              </a:rPr>
              <a:t> </a:t>
            </a:r>
            <a:r>
              <a:rPr sz="2200" b="0" dirty="0" err="1">
                <a:solidFill>
                  <a:srgbClr val="404040"/>
                </a:solidFill>
              </a:rPr>
              <a:t>generalizables</a:t>
            </a:r>
            <a:endParaRPr sz="2200" b="0" dirty="0">
              <a:solidFill>
                <a:srgbClr val="40404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20000" y="1152000"/>
            <a:ext cx="1800000" cy="36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0000" y="1152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GP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0" y="1548000"/>
            <a:ext cx="1800000" cy="1440000"/>
          </a:xfrm>
          <a:prstGeom prst="rect">
            <a:avLst/>
          </a:prstGeom>
          <a:solidFill>
            <a:srgbClr val="F2F2F2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92000" y="1620000"/>
            <a:ext cx="1655999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404040"/>
                </a:solidFill>
              </a:rPr>
              <a:t>Saltos
aleatorios
globales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00000" y="1152000"/>
            <a:ext cx="1800000" cy="36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00000" y="1152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0000" y="1548000"/>
            <a:ext cx="1800000" cy="1440000"/>
          </a:xfrm>
          <a:prstGeom prst="rect">
            <a:avLst/>
          </a:prstGeom>
          <a:solidFill>
            <a:srgbClr val="F2F2F2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72000" y="1620000"/>
            <a:ext cx="1655999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404040"/>
                </a:solidFill>
              </a:rPr>
              <a:t>Pasos
locales
seguros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72000" y="3343392"/>
            <a:ext cx="1800000" cy="36000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72000" y="3347352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FFFF"/>
                </a:solidFill>
              </a:rPr>
              <a:t>EDA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2000" y="3791520"/>
            <a:ext cx="1800000" cy="1440000"/>
          </a:xfrm>
          <a:prstGeom prst="rect">
            <a:avLst/>
          </a:prstGeom>
          <a:solidFill>
            <a:srgbClr val="378644"/>
          </a:solidFill>
          <a:ln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3942000"/>
            <a:ext cx="1655999" cy="13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1F3864"/>
                </a:solidFill>
              </a:rPr>
              <a:t>Saltos
</a:t>
            </a:r>
            <a:r>
              <a:rPr sz="1700" b="1" i="0" dirty="0" err="1">
                <a:solidFill>
                  <a:srgbClr val="1F3864"/>
                </a:solidFill>
              </a:rPr>
              <a:t>informados</a:t>
            </a:r>
            <a:r>
              <a:rPr sz="1700" b="1" i="0" dirty="0">
                <a:solidFill>
                  <a:srgbClr val="1F3864"/>
                </a:solidFill>
              </a:rPr>
              <a:t>
</a:t>
            </a:r>
            <a:r>
              <a:rPr sz="1700" b="1" i="0" dirty="0" err="1">
                <a:solidFill>
                  <a:srgbClr val="1F3864"/>
                </a:solidFill>
              </a:rPr>
              <a:t>por</a:t>
            </a:r>
            <a:r>
              <a:rPr sz="1700" b="1" i="0" dirty="0">
                <a:solidFill>
                  <a:srgbClr val="1F3864"/>
                </a:solidFill>
              </a:rPr>
              <a:t> </a:t>
            </a:r>
            <a:r>
              <a:rPr sz="1700" b="1" i="0" dirty="0" err="1">
                <a:solidFill>
                  <a:srgbClr val="1F3864"/>
                </a:solidFill>
              </a:rPr>
              <a:t>distribución</a:t>
            </a:r>
            <a:endParaRPr sz="1700" b="1" i="0" dirty="0">
              <a:solidFill>
                <a:srgbClr val="1F386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98C3-4F38-F008-A27C-DD84838E9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6FA226-1779-D72C-2FC3-690B9965AFE8}"/>
              </a:ext>
            </a:extLst>
          </p:cNvPr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l"/>
            <a:r>
              <a:rPr lang="es-ES" sz="2800" b="1" dirty="0">
                <a:solidFill>
                  <a:srgbClr val="FFFFFF"/>
                </a:solidFill>
              </a:rPr>
              <a:t> Framework de programación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DD7321-3670-77FB-9B8F-B7E13FD1C0BD}"/>
              </a:ext>
            </a:extLst>
          </p:cNvPr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D9AE8A-EE48-2658-4A4A-4787AB56262D}"/>
              </a:ext>
            </a:extLst>
          </p:cNvPr>
          <p:cNvSpPr txBox="1"/>
          <p:nvPr/>
        </p:nvSpPr>
        <p:spPr>
          <a:xfrm>
            <a:off x="180000" y="6624000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Pablo Bermejo · UCLM · JISBD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585324-F4BA-1C30-28C3-98479AFAB4FD}"/>
              </a:ext>
            </a:extLst>
          </p:cNvPr>
          <p:cNvSpPr txBox="1"/>
          <p:nvPr/>
        </p:nvSpPr>
        <p:spPr>
          <a:xfrm>
            <a:off x="469728" y="1767006"/>
            <a:ext cx="7380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s-ES" sz="2800" b="0" dirty="0">
                <a:solidFill>
                  <a:srgbClr val="404040"/>
                </a:solidFill>
              </a:rPr>
              <a:t>MAGPIE - </a:t>
            </a:r>
            <a:r>
              <a:rPr lang="es-ES" dirty="0"/>
              <a:t>Aymeric Blot, Justyna Petke – UCL London</a:t>
            </a:r>
            <a:r>
              <a:rPr lang="es-ES" sz="2800" b="0" dirty="0">
                <a:solidFill>
                  <a:srgbClr val="404040"/>
                </a:solidFill>
              </a:rPr>
              <a:t> </a:t>
            </a:r>
            <a:endParaRPr lang="es-ES" sz="2200" b="0" dirty="0">
              <a:solidFill>
                <a:srgbClr val="404040"/>
              </a:solidFill>
            </a:endParaRPr>
          </a:p>
          <a:p>
            <a:pPr>
              <a:spcBef>
                <a:spcPts val="400"/>
              </a:spcBef>
            </a:pPr>
            <a:endParaRPr lang="en-GB" sz="2400" dirty="0">
              <a:hlinkClick r:id="rId2"/>
            </a:endParaRP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hlinkClick r:id="rId2"/>
              </a:rPr>
              <a:t>MAGPIE: Machine Automated General Performance Improvement via Evolution of Software</a:t>
            </a:r>
            <a:r>
              <a:rPr lang="en-GB" sz="2400" dirty="0"/>
              <a:t>. </a:t>
            </a:r>
          </a:p>
          <a:p>
            <a:pPr>
              <a:spcBef>
                <a:spcPts val="400"/>
              </a:spcBef>
            </a:pPr>
            <a:endParaRPr lang="es-ES" sz="2200" b="0" dirty="0">
              <a:solidFill>
                <a:srgbClr val="404040"/>
              </a:solidFill>
            </a:endParaRPr>
          </a:p>
          <a:p>
            <a:pPr marL="342900" indent="-3429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hlinkClick r:id="rId3"/>
              </a:rPr>
              <a:t>https://github.com/bloa/magpie</a:t>
            </a:r>
            <a:endParaRPr lang="es-ES" sz="2200" b="0" dirty="0">
              <a:solidFill>
                <a:srgbClr val="404040"/>
              </a:solidFill>
            </a:endParaRPr>
          </a:p>
          <a:p>
            <a:pPr>
              <a:spcBef>
                <a:spcPts val="400"/>
              </a:spcBef>
            </a:pPr>
            <a:endParaRPr sz="2200" b="0" dirty="0">
              <a:solidFill>
                <a:srgbClr val="404040"/>
              </a:solidFill>
            </a:endParaRPr>
          </a:p>
          <a:p>
            <a:pPr>
              <a:spcBef>
                <a:spcPts val="400"/>
              </a:spcBef>
            </a:pPr>
            <a:endParaRPr sz="2200" b="0" dirty="0">
              <a:solidFill>
                <a:srgbClr val="404040"/>
              </a:solidFill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C2F3BE6A-106F-B311-62CD-B52622A35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9728" y="1109952"/>
            <a:ext cx="4037231" cy="440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80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 </a:t>
            </a:r>
            <a:r>
              <a:rPr sz="2800" b="1" dirty="0" err="1">
                <a:solidFill>
                  <a:srgbClr val="FFFFFF"/>
                </a:solidFill>
              </a:rPr>
              <a:t>Representación</a:t>
            </a:r>
            <a:r>
              <a:rPr sz="2800" b="1" dirty="0">
                <a:solidFill>
                  <a:srgbClr val="FFFFFF"/>
                </a:solidFill>
              </a:rPr>
              <a:t> del </a:t>
            </a:r>
            <a:r>
              <a:rPr sz="2800" b="1" dirty="0" err="1">
                <a:solidFill>
                  <a:srgbClr val="FFFFFF"/>
                </a:solidFill>
              </a:rPr>
              <a:t>individuo</a:t>
            </a:r>
            <a:r>
              <a:rPr lang="es-ES" sz="2800" b="1" dirty="0">
                <a:solidFill>
                  <a:srgbClr val="FFFFFF"/>
                </a:solidFill>
              </a:rPr>
              <a:t> en </a:t>
            </a:r>
            <a:r>
              <a:rPr lang="es-ES" sz="2800" b="1" dirty="0" err="1">
                <a:solidFill>
                  <a:srgbClr val="FFFFFF"/>
                </a:solidFill>
              </a:rPr>
              <a:t>Magpie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" y="6624000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Pablo Bermejo · UCLM · JISBD 2026</a:t>
            </a: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31053415-C156-4FB9-1B82-41D2A82CF51B}"/>
              </a:ext>
            </a:extLst>
          </p:cNvPr>
          <p:cNvGrpSpPr/>
          <p:nvPr/>
        </p:nvGrpSpPr>
        <p:grpSpPr>
          <a:xfrm>
            <a:off x="2192255" y="1111807"/>
            <a:ext cx="7200000" cy="792000"/>
            <a:chOff x="360000" y="1269646"/>
            <a:chExt cx="7200000" cy="792000"/>
          </a:xfrm>
        </p:grpSpPr>
        <p:sp>
          <p:nvSpPr>
            <p:cNvPr id="5" name="Rectangle 4"/>
            <p:cNvSpPr/>
            <p:nvPr/>
          </p:nvSpPr>
          <p:spPr>
            <a:xfrm>
              <a:off x="360000" y="1269646"/>
              <a:ext cx="7200000" cy="7920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2E74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40000" y="1341646"/>
              <a:ext cx="6840000" cy="30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 dirty="0">
                  <a:solidFill>
                    <a:srgbClr val="1F3864"/>
                  </a:solidFill>
                </a:rPr>
                <a:t>Un edit =  &lt; </a:t>
              </a:r>
              <a:r>
                <a:rPr sz="2200" b="1" i="0" dirty="0" err="1">
                  <a:solidFill>
                    <a:srgbClr val="1F3864"/>
                  </a:solidFill>
                </a:rPr>
                <a:t>Operación</a:t>
              </a:r>
              <a:r>
                <a:rPr sz="2200" b="1" i="0" dirty="0">
                  <a:solidFill>
                    <a:srgbClr val="1F3864"/>
                  </a:solidFill>
                </a:rPr>
                <a:t>,  </a:t>
              </a:r>
              <a:r>
                <a:rPr sz="2200" b="1" i="0" dirty="0" err="1">
                  <a:solidFill>
                    <a:srgbClr val="1F3864"/>
                  </a:solidFill>
                </a:rPr>
                <a:t>Ubicación</a:t>
              </a:r>
              <a:r>
                <a:rPr sz="2200" b="1" i="0" dirty="0">
                  <a:solidFill>
                    <a:srgbClr val="1F3864"/>
                  </a:solidFill>
                </a:rPr>
                <a:t>,  [</a:t>
              </a:r>
              <a:r>
                <a:rPr sz="2200" b="1" i="0" dirty="0" err="1">
                  <a:solidFill>
                    <a:srgbClr val="1F3864"/>
                  </a:solidFill>
                </a:rPr>
                <a:t>Ingrediente</a:t>
              </a:r>
              <a:r>
                <a:rPr sz="2200" b="1" i="0" dirty="0">
                  <a:solidFill>
                    <a:srgbClr val="1F3864"/>
                  </a:solidFill>
                </a:rPr>
                <a:t>] &gt;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40000" y="1665646"/>
              <a:ext cx="702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0" i="0" dirty="0" err="1">
                  <a:solidFill>
                    <a:srgbClr val="404040"/>
                  </a:solidFill>
                </a:rPr>
                <a:t>Operaciones</a:t>
              </a:r>
              <a:r>
                <a:rPr sz="1800" b="0" i="0" dirty="0">
                  <a:solidFill>
                    <a:srgbClr val="404040"/>
                  </a:solidFill>
                </a:rPr>
                <a:t>: Delete · Swap · Copy · Replace   (</a:t>
              </a:r>
              <a:r>
                <a:rPr sz="1800" b="0" i="0" dirty="0" err="1">
                  <a:solidFill>
                    <a:srgbClr val="404040"/>
                  </a:solidFill>
                </a:rPr>
                <a:t>nivel</a:t>
              </a:r>
              <a:r>
                <a:rPr sz="1800" b="0" i="0" dirty="0">
                  <a:solidFill>
                    <a:srgbClr val="404040"/>
                  </a:solidFill>
                </a:rPr>
                <a:t> de </a:t>
              </a:r>
              <a:r>
                <a:rPr sz="1800" b="0" i="0" dirty="0" err="1">
                  <a:solidFill>
                    <a:srgbClr val="404040"/>
                  </a:solidFill>
                </a:rPr>
                <a:t>sentencia</a:t>
              </a:r>
              <a:r>
                <a:rPr sz="1800" b="0" i="0" dirty="0">
                  <a:solidFill>
                    <a:srgbClr val="404040"/>
                  </a:solidFill>
                </a:rPr>
                <a:t>, </a:t>
              </a:r>
              <a:r>
                <a:rPr sz="1800" b="0" i="0" dirty="0" err="1">
                  <a:solidFill>
                    <a:srgbClr val="404040"/>
                  </a:solidFill>
                </a:rPr>
                <a:t>vía</a:t>
              </a:r>
              <a:r>
                <a:rPr sz="1800" b="0" i="0" dirty="0">
                  <a:solidFill>
                    <a:srgbClr val="404040"/>
                  </a:solidFill>
                </a:rPr>
                <a:t> AST)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552255" y="3598199"/>
            <a:ext cx="72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404040"/>
                </a:solidFill>
              </a:rPr>
              <a:t>Un </a:t>
            </a:r>
            <a:r>
              <a:rPr sz="2200" b="0" i="0" dirty="0" err="1">
                <a:solidFill>
                  <a:srgbClr val="404040"/>
                </a:solidFill>
              </a:rPr>
              <a:t>individuo</a:t>
            </a:r>
            <a:r>
              <a:rPr sz="2200" b="0" i="0" dirty="0">
                <a:solidFill>
                  <a:srgbClr val="404040"/>
                </a:solidFill>
              </a:rPr>
              <a:t> (</a:t>
            </a:r>
            <a:r>
              <a:rPr sz="2200" b="1" i="0" dirty="0" err="1">
                <a:solidFill>
                  <a:srgbClr val="404040"/>
                </a:solidFill>
              </a:rPr>
              <a:t>parche</a:t>
            </a:r>
            <a:r>
              <a:rPr sz="2200" b="0" i="0" dirty="0">
                <a:solidFill>
                  <a:srgbClr val="404040"/>
                </a:solidFill>
              </a:rPr>
              <a:t> </a:t>
            </a:r>
            <a:r>
              <a:rPr sz="2200" b="1" i="0" dirty="0">
                <a:solidFill>
                  <a:srgbClr val="404040"/>
                </a:solidFill>
              </a:rPr>
              <a:t>δ</a:t>
            </a:r>
            <a:r>
              <a:rPr sz="2200" b="0" i="0" dirty="0">
                <a:solidFill>
                  <a:srgbClr val="404040"/>
                </a:solidFill>
              </a:rPr>
              <a:t>) = </a:t>
            </a:r>
            <a:r>
              <a:rPr sz="2200" b="0" i="0" dirty="0" err="1">
                <a:solidFill>
                  <a:srgbClr val="404040"/>
                </a:solidFill>
              </a:rPr>
              <a:t>secuencia</a:t>
            </a:r>
            <a:r>
              <a:rPr sz="2200" b="0" i="0" dirty="0">
                <a:solidFill>
                  <a:srgbClr val="404040"/>
                </a:solidFill>
              </a:rPr>
              <a:t> de edits: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2254" y="4199529"/>
            <a:ext cx="7624315" cy="900000"/>
          </a:xfrm>
          <a:prstGeom prst="rect">
            <a:avLst/>
          </a:prstGeom>
          <a:solidFill>
            <a:srgbClr val="F2F2F2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2255" y="4271529"/>
            <a:ext cx="68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</a:rPr>
              <a:t>Ejemplo:    δ = ( e₁, e₂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2255" y="4523529"/>
            <a:ext cx="64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04040"/>
                </a:solidFill>
              </a:rPr>
              <a:t>e₁ = &lt; Swap, s₃, s₄ &gt;   →   intercambia sentencias en líneas 3 y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2255" y="4739529"/>
            <a:ext cx="64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04040"/>
                </a:solidFill>
              </a:rPr>
              <a:t>e₂ = &lt; Delete, s₆ &gt;        →   elimina la sentencia en línea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2254" y="5243529"/>
            <a:ext cx="7660317" cy="1047384"/>
          </a:xfrm>
          <a:prstGeom prst="rect">
            <a:avLst/>
          </a:prstGeom>
          <a:solidFill>
            <a:srgbClr val="FFF0E0"/>
          </a:solidFill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6253" y="5297528"/>
            <a:ext cx="766031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 dirty="0">
                <a:solidFill>
                  <a:srgbClr val="C55A11"/>
                </a:solidFill>
              </a:rPr>
              <a:t> </a:t>
            </a:r>
            <a:r>
              <a:rPr sz="2100" b="1" i="0" dirty="0" err="1">
                <a:solidFill>
                  <a:srgbClr val="C55A11"/>
                </a:solidFill>
              </a:rPr>
              <a:t>Decisión</a:t>
            </a:r>
            <a:r>
              <a:rPr lang="es-ES" sz="2100" b="1" i="0" dirty="0">
                <a:solidFill>
                  <a:srgbClr val="C55A11"/>
                </a:solidFill>
              </a:rPr>
              <a:t> en UMDA4GI</a:t>
            </a:r>
            <a:r>
              <a:rPr sz="2100" b="1" i="0" dirty="0">
                <a:solidFill>
                  <a:srgbClr val="C55A11"/>
                </a:solidFill>
              </a:rPr>
              <a:t>: </a:t>
            </a:r>
            <a:r>
              <a:rPr sz="2100" b="1" i="0" dirty="0" err="1">
                <a:solidFill>
                  <a:srgbClr val="C55A11"/>
                </a:solidFill>
              </a:rPr>
              <a:t>longitud</a:t>
            </a:r>
            <a:r>
              <a:rPr sz="2100" b="1" i="0" dirty="0">
                <a:solidFill>
                  <a:srgbClr val="C55A11"/>
                </a:solidFill>
              </a:rPr>
              <a:t> </a:t>
            </a:r>
            <a:r>
              <a:rPr sz="2100" b="1" i="0" dirty="0" err="1">
                <a:solidFill>
                  <a:srgbClr val="C55A11"/>
                </a:solidFill>
              </a:rPr>
              <a:t>máxima</a:t>
            </a:r>
            <a:r>
              <a:rPr sz="2100" b="1" i="0" dirty="0">
                <a:solidFill>
                  <a:srgbClr val="C55A11"/>
                </a:solidFill>
              </a:rPr>
              <a:t> del </a:t>
            </a:r>
            <a:r>
              <a:rPr sz="2100" b="1" i="0" dirty="0" err="1">
                <a:solidFill>
                  <a:srgbClr val="C55A11"/>
                </a:solidFill>
              </a:rPr>
              <a:t>parche</a:t>
            </a:r>
            <a:r>
              <a:rPr sz="2100" b="1" i="0" dirty="0">
                <a:solidFill>
                  <a:srgbClr val="C55A11"/>
                </a:solidFill>
              </a:rPr>
              <a:t> </a:t>
            </a:r>
            <a:r>
              <a:rPr sz="2100" b="1" i="0" dirty="0" err="1">
                <a:solidFill>
                  <a:srgbClr val="C55A11"/>
                </a:solidFill>
              </a:rPr>
              <a:t>kmax</a:t>
            </a:r>
            <a:r>
              <a:rPr sz="2100" b="1" i="0" dirty="0">
                <a:solidFill>
                  <a:srgbClr val="C55A11"/>
                </a:solidFill>
              </a:rPr>
              <a:t> = 2 edits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6254" y="5567528"/>
            <a:ext cx="68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404040"/>
                </a:solidFill>
              </a:rPr>
              <a:t>Parches </a:t>
            </a:r>
            <a:r>
              <a:rPr sz="1800" b="0" i="0" dirty="0" err="1">
                <a:solidFill>
                  <a:srgbClr val="404040"/>
                </a:solidFill>
              </a:rPr>
              <a:t>cortos</a:t>
            </a:r>
            <a:r>
              <a:rPr sz="1800" b="0" i="0" dirty="0">
                <a:solidFill>
                  <a:srgbClr val="404040"/>
                </a:solidFill>
              </a:rPr>
              <a:t> → </a:t>
            </a:r>
            <a:r>
              <a:rPr sz="1800" b="0" i="0" dirty="0" err="1">
                <a:solidFill>
                  <a:srgbClr val="404040"/>
                </a:solidFill>
              </a:rPr>
              <a:t>más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variantes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válidas</a:t>
            </a:r>
            <a:r>
              <a:rPr sz="1800" b="0" i="0" dirty="0">
                <a:solidFill>
                  <a:srgbClr val="404040"/>
                </a:solidFill>
              </a:rPr>
              <a:t> · </a:t>
            </a:r>
            <a:r>
              <a:rPr sz="1800" b="0" i="0" dirty="0" err="1">
                <a:solidFill>
                  <a:srgbClr val="404040"/>
                </a:solidFill>
              </a:rPr>
              <a:t>menor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sobreajuste</a:t>
            </a:r>
            <a:r>
              <a:rPr sz="1800" b="0" i="0" dirty="0">
                <a:solidFill>
                  <a:srgbClr val="404040"/>
                </a:solidFill>
              </a:rPr>
              <a:t> · </a:t>
            </a:r>
            <a:r>
              <a:rPr sz="1800" b="0" i="0" dirty="0" err="1">
                <a:solidFill>
                  <a:srgbClr val="404040"/>
                </a:solidFill>
              </a:rPr>
              <a:t>mejor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generalización</a:t>
            </a:r>
            <a:endParaRPr sz="1800" b="0" i="0" dirty="0">
              <a:solidFill>
                <a:srgbClr val="404040"/>
              </a:solidFill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79213AE7-4F0E-5FE3-4FFC-2F671FD74747}"/>
              </a:ext>
            </a:extLst>
          </p:cNvPr>
          <p:cNvGrpSpPr/>
          <p:nvPr/>
        </p:nvGrpSpPr>
        <p:grpSpPr>
          <a:xfrm>
            <a:off x="323999" y="2188334"/>
            <a:ext cx="2922121" cy="864000"/>
            <a:chOff x="7920000" y="1323004"/>
            <a:chExt cx="4140000" cy="864000"/>
          </a:xfrm>
        </p:grpSpPr>
        <p:sp>
          <p:nvSpPr>
            <p:cNvPr id="16" name="Rectangle 15"/>
            <p:cNvSpPr/>
            <p:nvPr/>
          </p:nvSpPr>
          <p:spPr>
            <a:xfrm>
              <a:off x="7920000" y="1323004"/>
              <a:ext cx="4140000" cy="8640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2E74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028000" y="1377004"/>
              <a:ext cx="3960000" cy="32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i="0">
                  <a:solidFill>
                    <a:srgbClr val="1F3864"/>
                  </a:solidFill>
                </a:rPr>
                <a:t>Delete s₆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028000" y="1683004"/>
              <a:ext cx="3960000" cy="28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0" i="0">
                  <a:solidFill>
                    <a:srgbClr val="404040"/>
                  </a:solidFill>
                </a:rPr>
                <a:t>Elimina sentencia en línea 6</a:t>
              </a:r>
            </a:p>
          </p:txBody>
        </p:sp>
      </p:grpSp>
      <p:grpSp>
        <p:nvGrpSpPr>
          <p:cNvPr id="27" name="Grupo 26">
            <a:extLst>
              <a:ext uri="{FF2B5EF4-FFF2-40B4-BE49-F238E27FC236}">
                <a16:creationId xmlns:a16="http://schemas.microsoft.com/office/drawing/2014/main" id="{8B695CF9-B638-2547-AB5F-04A1889BF980}"/>
              </a:ext>
            </a:extLst>
          </p:cNvPr>
          <p:cNvGrpSpPr/>
          <p:nvPr/>
        </p:nvGrpSpPr>
        <p:grpSpPr>
          <a:xfrm>
            <a:off x="4096511" y="2175948"/>
            <a:ext cx="2697481" cy="864000"/>
            <a:chOff x="7920000" y="2331003"/>
            <a:chExt cx="4140000" cy="864000"/>
          </a:xfrm>
        </p:grpSpPr>
        <p:sp>
          <p:nvSpPr>
            <p:cNvPr id="19" name="Rectangle 18"/>
            <p:cNvSpPr/>
            <p:nvPr/>
          </p:nvSpPr>
          <p:spPr>
            <a:xfrm>
              <a:off x="7920000" y="2331003"/>
              <a:ext cx="4140000" cy="8640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2E74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028000" y="2385003"/>
              <a:ext cx="3960000" cy="32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i="0" dirty="0">
                  <a:solidFill>
                    <a:srgbClr val="1F3864"/>
                  </a:solidFill>
                </a:rPr>
                <a:t>Swap s₃ ↔ s₄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028000" y="2691003"/>
              <a:ext cx="3960000" cy="28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0" i="0">
                  <a:solidFill>
                    <a:srgbClr val="404040"/>
                  </a:solidFill>
                </a:rPr>
                <a:t>Intercambia líneas 3 y 4</a:t>
              </a: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D4524BDC-6AA0-7D1C-02CE-9CE5D281B42F}"/>
              </a:ext>
            </a:extLst>
          </p:cNvPr>
          <p:cNvGrpSpPr/>
          <p:nvPr/>
        </p:nvGrpSpPr>
        <p:grpSpPr>
          <a:xfrm>
            <a:off x="7648597" y="2175948"/>
            <a:ext cx="2940155" cy="864000"/>
            <a:chOff x="7920000" y="3339002"/>
            <a:chExt cx="4140000" cy="864000"/>
          </a:xfrm>
        </p:grpSpPr>
        <p:sp>
          <p:nvSpPr>
            <p:cNvPr id="22" name="Rectangle 21"/>
            <p:cNvSpPr/>
            <p:nvPr/>
          </p:nvSpPr>
          <p:spPr>
            <a:xfrm>
              <a:off x="7920000" y="3339002"/>
              <a:ext cx="4140000" cy="8640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2E74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3F375B03-8020-EC0A-8C44-B4AA562F7AC1}"/>
                </a:ext>
              </a:extLst>
            </p:cNvPr>
            <p:cNvGrpSpPr/>
            <p:nvPr/>
          </p:nvGrpSpPr>
          <p:grpSpPr>
            <a:xfrm>
              <a:off x="8028000" y="3393002"/>
              <a:ext cx="3960000" cy="594000"/>
              <a:chOff x="8028000" y="3393002"/>
              <a:chExt cx="3960000" cy="594000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8028000" y="3393002"/>
                <a:ext cx="3960000" cy="324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2000" b="1" i="0">
                    <a:solidFill>
                      <a:srgbClr val="1F3864"/>
                    </a:solidFill>
                  </a:rPr>
                  <a:t>Replace s₂ ← s₇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8028000" y="3699002"/>
                <a:ext cx="3960000" cy="288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700" b="0" i="0">
                    <a:solidFill>
                      <a:srgbClr val="404040"/>
                    </a:solidFill>
                  </a:rPr>
                  <a:t>Sustituye línea 2 por línea 7</a:t>
                </a:r>
              </a:p>
            </p:txBody>
          </p:sp>
        </p:grpSp>
      </p:grpSp>
      <p:sp>
        <p:nvSpPr>
          <p:cNvPr id="31" name="TextBox 7">
            <a:extLst>
              <a:ext uri="{FF2B5EF4-FFF2-40B4-BE49-F238E27FC236}">
                <a16:creationId xmlns:a16="http://schemas.microsoft.com/office/drawing/2014/main" id="{4486072C-3B6C-9EA2-D3B2-8053CAD47228}"/>
              </a:ext>
            </a:extLst>
          </p:cNvPr>
          <p:cNvSpPr txBox="1"/>
          <p:nvPr/>
        </p:nvSpPr>
        <p:spPr>
          <a:xfrm>
            <a:off x="10032571" y="3987809"/>
            <a:ext cx="1796381" cy="13234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l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Los individuos de una población no tienen por qué tener la misma longitud</a:t>
            </a:r>
            <a:endParaRPr sz="1600" b="0" i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UMDA4GI — </a:t>
            </a:r>
            <a:r>
              <a:rPr sz="2800" b="1" dirty="0" err="1">
                <a:solidFill>
                  <a:srgbClr val="FFFFFF"/>
                </a:solidFill>
              </a:rPr>
              <a:t>Algoritmo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" y="6624000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Pablo Bermejo · UCLM · JISBD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00" y="864000"/>
            <a:ext cx="6664444" cy="5207616"/>
          </a:xfrm>
          <a:prstGeom prst="rect">
            <a:avLst/>
          </a:prstGeom>
          <a:solidFill>
            <a:srgbClr val="F8F8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8934" y="1314430"/>
            <a:ext cx="6442576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400" b="0" dirty="0" err="1">
                <a:solidFill>
                  <a:srgbClr val="404040"/>
                </a:solidFill>
                <a:latin typeface="Courier New"/>
              </a:rPr>
              <a:t>Inicializar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  P₀  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aleatoriamente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  (1 edit / 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individuo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)</a:t>
            </a:r>
          </a:p>
          <a:p>
            <a:pPr>
              <a:spcBef>
                <a:spcPts val="200"/>
              </a:spcBef>
            </a:pPr>
            <a:r>
              <a:rPr sz="1400" b="0" dirty="0" err="1">
                <a:solidFill>
                  <a:srgbClr val="404040"/>
                </a:solidFill>
                <a:latin typeface="Courier New"/>
              </a:rPr>
              <a:t>Evaluar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 P₀  →  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identificar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 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mejor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 δ*</a:t>
            </a:r>
          </a:p>
          <a:p>
            <a:pPr>
              <a:spcBef>
                <a:spcPts val="200"/>
              </a:spcBef>
            </a:pPr>
            <a:endParaRPr sz="1400" b="0" dirty="0">
              <a:solidFill>
                <a:srgbClr val="404040"/>
              </a:solidFill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sz="1400" b="1" dirty="0">
                <a:solidFill>
                  <a:srgbClr val="1F3864"/>
                </a:solidFill>
                <a:latin typeface="Courier New"/>
              </a:rPr>
              <a:t>while  no</a:t>
            </a:r>
            <a:r>
              <a:rPr lang="es-ES" sz="1400" b="1" dirty="0">
                <a:solidFill>
                  <a:srgbClr val="1F3864"/>
                </a:solidFill>
                <a:latin typeface="Courier New"/>
              </a:rPr>
              <a:t>t</a:t>
            </a:r>
            <a:r>
              <a:rPr sz="1400" b="1" dirty="0">
                <a:solidFill>
                  <a:srgbClr val="1F3864"/>
                </a:solidFill>
                <a:latin typeface="Courier New"/>
              </a:rPr>
              <a:t> </a:t>
            </a:r>
            <a:r>
              <a:rPr sz="1400" b="1" dirty="0" err="1">
                <a:solidFill>
                  <a:srgbClr val="1F3864"/>
                </a:solidFill>
                <a:latin typeface="Courier New"/>
              </a:rPr>
              <a:t>agotado</a:t>
            </a:r>
            <a:r>
              <a:rPr sz="1400" b="1" dirty="0">
                <a:solidFill>
                  <a:srgbClr val="1F3864"/>
                </a:solidFill>
                <a:latin typeface="Courier New"/>
              </a:rPr>
              <a:t> </a:t>
            </a:r>
            <a:r>
              <a:rPr sz="1400" b="1" dirty="0" err="1">
                <a:solidFill>
                  <a:srgbClr val="1F3864"/>
                </a:solidFill>
                <a:latin typeface="Courier New"/>
              </a:rPr>
              <a:t>presupuesto</a:t>
            </a:r>
            <a:r>
              <a:rPr sz="1400" b="1" dirty="0">
                <a:solidFill>
                  <a:srgbClr val="1F3864"/>
                </a:solidFill>
                <a:latin typeface="Courier New"/>
              </a:rPr>
              <a:t>  do</a:t>
            </a:r>
          </a:p>
          <a:p>
            <a:pPr>
              <a:spcBef>
                <a:spcPts val="200"/>
              </a:spcBef>
            </a:pPr>
            <a:r>
              <a:rPr sz="1400" b="0" dirty="0">
                <a:solidFill>
                  <a:srgbClr val="404040"/>
                </a:solidFill>
                <a:latin typeface="Courier New"/>
              </a:rPr>
              <a:t>    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Psel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  ←  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variantes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 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válidas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 de Pᵢ  (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compilan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 + tests)</a:t>
            </a:r>
          </a:p>
          <a:p>
            <a:pPr>
              <a:spcBef>
                <a:spcPts val="200"/>
              </a:spcBef>
            </a:pPr>
            <a:r>
              <a:rPr sz="1400" b="0" dirty="0">
                <a:solidFill>
                  <a:srgbClr val="2E74B5"/>
                </a:solidFill>
                <a:latin typeface="Courier New"/>
              </a:rPr>
              <a:t>    </a:t>
            </a:r>
            <a:r>
              <a:rPr sz="1400" b="0" dirty="0" err="1">
                <a:solidFill>
                  <a:srgbClr val="2E74B5"/>
                </a:solidFill>
                <a:latin typeface="Courier New"/>
              </a:rPr>
              <a:t>Aprender</a:t>
            </a:r>
            <a:r>
              <a:rPr sz="1400" b="0" dirty="0">
                <a:solidFill>
                  <a:srgbClr val="2E74B5"/>
                </a:solidFill>
                <a:latin typeface="Courier New"/>
              </a:rPr>
              <a:t> </a:t>
            </a:r>
            <a:r>
              <a:rPr sz="1400" b="0" dirty="0" err="1">
                <a:solidFill>
                  <a:srgbClr val="2E74B5"/>
                </a:solidFill>
                <a:latin typeface="Courier New"/>
              </a:rPr>
              <a:t>distribución</a:t>
            </a:r>
            <a:r>
              <a:rPr sz="1400" b="0" dirty="0">
                <a:solidFill>
                  <a:srgbClr val="2E74B5"/>
                </a:solidFill>
                <a:latin typeface="Courier New"/>
              </a:rPr>
              <a:t>  Mᵢ  </a:t>
            </a:r>
            <a:r>
              <a:rPr sz="1400" b="0" dirty="0" err="1">
                <a:solidFill>
                  <a:srgbClr val="2E74B5"/>
                </a:solidFill>
                <a:latin typeface="Courier New"/>
              </a:rPr>
              <a:t>sobre</a:t>
            </a:r>
            <a:r>
              <a:rPr sz="1400" b="0" dirty="0">
                <a:solidFill>
                  <a:srgbClr val="2E74B5"/>
                </a:solidFill>
                <a:latin typeface="Courier New"/>
              </a:rPr>
              <a:t> edits </a:t>
            </a:r>
            <a:r>
              <a:rPr sz="1400" b="0" dirty="0" err="1">
                <a:solidFill>
                  <a:srgbClr val="2E74B5"/>
                </a:solidFill>
                <a:latin typeface="Courier New"/>
              </a:rPr>
              <a:t>en</a:t>
            </a:r>
            <a:r>
              <a:rPr sz="1400" b="0" dirty="0">
                <a:solidFill>
                  <a:srgbClr val="2E74B5"/>
                </a:solidFill>
                <a:latin typeface="Courier New"/>
              </a:rPr>
              <a:t> </a:t>
            </a:r>
            <a:r>
              <a:rPr sz="1400" b="0" dirty="0" err="1">
                <a:solidFill>
                  <a:srgbClr val="2E74B5"/>
                </a:solidFill>
                <a:latin typeface="Courier New"/>
              </a:rPr>
              <a:t>Psel</a:t>
            </a:r>
            <a:endParaRPr sz="1400" b="0" dirty="0">
              <a:solidFill>
                <a:srgbClr val="2E74B5"/>
              </a:solidFill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sz="1400" b="0" dirty="0">
                <a:solidFill>
                  <a:srgbClr val="404040"/>
                </a:solidFill>
                <a:latin typeface="Courier New"/>
              </a:rPr>
              <a:t>    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Pnew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  ←  { δ* }  (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elitismo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)</a:t>
            </a:r>
          </a:p>
          <a:p>
            <a:pPr>
              <a:spcBef>
                <a:spcPts val="200"/>
              </a:spcBef>
            </a:pPr>
            <a:r>
              <a:rPr sz="1400" b="1" dirty="0">
                <a:solidFill>
                  <a:srgbClr val="1F3864"/>
                </a:solidFill>
                <a:latin typeface="Courier New"/>
              </a:rPr>
              <a:t>    while  |</a:t>
            </a:r>
            <a:r>
              <a:rPr sz="1400" b="1" dirty="0" err="1">
                <a:solidFill>
                  <a:srgbClr val="1F3864"/>
                </a:solidFill>
                <a:latin typeface="Courier New"/>
              </a:rPr>
              <a:t>Pnew</a:t>
            </a:r>
            <a:r>
              <a:rPr sz="1400" b="1" dirty="0">
                <a:solidFill>
                  <a:srgbClr val="1F3864"/>
                </a:solidFill>
                <a:latin typeface="Courier New"/>
              </a:rPr>
              <a:t>| &lt; N - 1  do</a:t>
            </a:r>
          </a:p>
          <a:p>
            <a:pPr>
              <a:spcBef>
                <a:spcPts val="200"/>
              </a:spcBef>
            </a:pPr>
            <a:r>
              <a:rPr sz="1400" b="0" dirty="0">
                <a:solidFill>
                  <a:srgbClr val="404040"/>
                </a:solidFill>
                <a:latin typeface="Courier New"/>
              </a:rPr>
              <a:t>        </a:t>
            </a:r>
            <a:r>
              <a:rPr sz="1400" dirty="0" err="1">
                <a:solidFill>
                  <a:srgbClr val="2E74B5"/>
                </a:solidFill>
                <a:latin typeface="Courier New"/>
              </a:rPr>
              <a:t>Muestrear</a:t>
            </a:r>
            <a:r>
              <a:rPr sz="1400" dirty="0">
                <a:solidFill>
                  <a:srgbClr val="2E74B5"/>
                </a:solidFill>
                <a:latin typeface="Courier New"/>
              </a:rPr>
              <a:t> nuevo </a:t>
            </a:r>
            <a:r>
              <a:rPr sz="1400" dirty="0" err="1">
                <a:solidFill>
                  <a:srgbClr val="2E74B5"/>
                </a:solidFill>
                <a:latin typeface="Courier New"/>
              </a:rPr>
              <a:t>individuo</a:t>
            </a:r>
            <a:r>
              <a:rPr sz="1400" dirty="0">
                <a:solidFill>
                  <a:srgbClr val="2E74B5"/>
                </a:solidFill>
                <a:latin typeface="Courier New"/>
              </a:rPr>
              <a:t> </a:t>
            </a:r>
            <a:r>
              <a:rPr sz="1400" dirty="0" err="1">
                <a:solidFill>
                  <a:srgbClr val="2E74B5"/>
                </a:solidFill>
                <a:latin typeface="Courier New"/>
              </a:rPr>
              <a:t>δnew</a:t>
            </a:r>
            <a:r>
              <a:rPr sz="1400" dirty="0">
                <a:solidFill>
                  <a:srgbClr val="2E74B5"/>
                </a:solidFill>
                <a:latin typeface="Courier New"/>
              </a:rPr>
              <a:t>  ~  Mᵢ</a:t>
            </a:r>
          </a:p>
          <a:p>
            <a:pPr>
              <a:spcBef>
                <a:spcPts val="200"/>
              </a:spcBef>
            </a:pPr>
            <a:r>
              <a:rPr sz="1400" b="0" dirty="0">
                <a:solidFill>
                  <a:srgbClr val="800000"/>
                </a:solidFill>
                <a:latin typeface="Courier New"/>
              </a:rPr>
              <a:t>        </a:t>
            </a:r>
            <a:r>
              <a:rPr sz="1400" dirty="0">
                <a:solidFill>
                  <a:srgbClr val="404040"/>
                </a:solidFill>
                <a:latin typeface="Courier New"/>
              </a:rPr>
              <a:t>Si </a:t>
            </a:r>
            <a:r>
              <a:rPr sz="1400" dirty="0" err="1">
                <a:solidFill>
                  <a:srgbClr val="404040"/>
                </a:solidFill>
                <a:latin typeface="Courier New"/>
              </a:rPr>
              <a:t>δnew</a:t>
            </a:r>
            <a:r>
              <a:rPr sz="1400" dirty="0">
                <a:solidFill>
                  <a:srgbClr val="404040"/>
                </a:solidFill>
                <a:latin typeface="Courier New"/>
              </a:rPr>
              <a:t> ∈ </a:t>
            </a:r>
            <a:r>
              <a:rPr sz="1400" dirty="0" err="1">
                <a:solidFill>
                  <a:srgbClr val="404040"/>
                </a:solidFill>
                <a:latin typeface="Courier New"/>
              </a:rPr>
              <a:t>Pnew</a:t>
            </a:r>
            <a:r>
              <a:rPr sz="1400" dirty="0">
                <a:solidFill>
                  <a:srgbClr val="404040"/>
                </a:solidFill>
                <a:latin typeface="Courier New"/>
              </a:rPr>
              <a:t> → </a:t>
            </a:r>
            <a:r>
              <a:rPr sz="1400" dirty="0" err="1">
                <a:solidFill>
                  <a:srgbClr val="404040"/>
                </a:solidFill>
                <a:latin typeface="Courier New"/>
              </a:rPr>
              <a:t>sustituir</a:t>
            </a:r>
            <a:r>
              <a:rPr sz="1400" dirty="0">
                <a:solidFill>
                  <a:srgbClr val="404040"/>
                </a:solidFill>
                <a:latin typeface="Courier New"/>
              </a:rPr>
              <a:t> </a:t>
            </a:r>
            <a:r>
              <a:rPr sz="1400" dirty="0" err="1">
                <a:solidFill>
                  <a:srgbClr val="404040"/>
                </a:solidFill>
                <a:latin typeface="Courier New"/>
              </a:rPr>
              <a:t>por</a:t>
            </a:r>
            <a:r>
              <a:rPr sz="1400" dirty="0">
                <a:solidFill>
                  <a:srgbClr val="404040"/>
                </a:solidFill>
                <a:latin typeface="Courier New"/>
              </a:rPr>
              <a:t> </a:t>
            </a:r>
            <a:r>
              <a:rPr sz="1400" dirty="0" err="1">
                <a:solidFill>
                  <a:srgbClr val="404040"/>
                </a:solidFill>
                <a:latin typeface="Courier New"/>
              </a:rPr>
              <a:t>individuo</a:t>
            </a:r>
            <a:r>
              <a:rPr sz="1400" dirty="0">
                <a:solidFill>
                  <a:srgbClr val="404040"/>
                </a:solidFill>
                <a:latin typeface="Courier New"/>
              </a:rPr>
              <a:t> </a:t>
            </a:r>
            <a:r>
              <a:rPr sz="1400" dirty="0" err="1">
                <a:solidFill>
                  <a:srgbClr val="404040"/>
                </a:solidFill>
                <a:latin typeface="Courier New"/>
              </a:rPr>
              <a:t>aleatorio</a:t>
            </a:r>
            <a:endParaRPr sz="1400" dirty="0">
              <a:solidFill>
                <a:srgbClr val="404040"/>
              </a:solidFill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sz="1400" b="0" dirty="0">
                <a:solidFill>
                  <a:srgbClr val="404040"/>
                </a:solidFill>
                <a:latin typeface="Courier New"/>
              </a:rPr>
              <a:t>        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Pnew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  ←  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Pnew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  ∪  { 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δnew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 }</a:t>
            </a:r>
          </a:p>
          <a:p>
            <a:pPr>
              <a:spcBef>
                <a:spcPts val="200"/>
              </a:spcBef>
            </a:pPr>
            <a:r>
              <a:rPr sz="1400" b="1" dirty="0">
                <a:solidFill>
                  <a:srgbClr val="1F3864"/>
                </a:solidFill>
                <a:latin typeface="Courier New"/>
              </a:rPr>
              <a:t>    end while</a:t>
            </a:r>
          </a:p>
          <a:p>
            <a:pPr>
              <a:spcBef>
                <a:spcPts val="200"/>
              </a:spcBef>
            </a:pPr>
            <a:r>
              <a:rPr sz="1400" b="0" dirty="0">
                <a:solidFill>
                  <a:srgbClr val="404040"/>
                </a:solidFill>
                <a:latin typeface="Courier New"/>
              </a:rPr>
              <a:t>    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Evaluar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 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Pnew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;  </a:t>
            </a:r>
            <a:endParaRPr lang="es-ES" sz="1400" b="0" dirty="0">
              <a:solidFill>
                <a:srgbClr val="404040"/>
              </a:solidFill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lang="es-ES" sz="1400" dirty="0">
                <a:solidFill>
                  <a:srgbClr val="404040"/>
                </a:solidFill>
                <a:latin typeface="Courier New"/>
              </a:rPr>
              <a:t>   </a:t>
            </a:r>
            <a:r>
              <a:rPr sz="1400" b="0" dirty="0">
                <a:solidFill>
                  <a:srgbClr val="404040"/>
                </a:solidFill>
                <a:latin typeface="Courier New"/>
              </a:rPr>
              <a:t> Pᵢ₊₁ ← </a:t>
            </a:r>
            <a:r>
              <a:rPr sz="1400" b="0" dirty="0" err="1">
                <a:solidFill>
                  <a:srgbClr val="404040"/>
                </a:solidFill>
                <a:latin typeface="Courier New"/>
              </a:rPr>
              <a:t>Pnew</a:t>
            </a:r>
            <a:endParaRPr sz="1400" b="0" dirty="0">
              <a:solidFill>
                <a:srgbClr val="404040"/>
              </a:solidFill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sz="1400" b="1" dirty="0">
                <a:solidFill>
                  <a:srgbClr val="1F3864"/>
                </a:solidFill>
                <a:latin typeface="Courier New"/>
              </a:rPr>
              <a:t>end while  →  </a:t>
            </a:r>
            <a:r>
              <a:rPr sz="1400" b="1" dirty="0" err="1">
                <a:solidFill>
                  <a:srgbClr val="1F3864"/>
                </a:solidFill>
                <a:latin typeface="Courier New"/>
              </a:rPr>
              <a:t>devolver</a:t>
            </a:r>
            <a:r>
              <a:rPr sz="1400" b="1" dirty="0">
                <a:solidFill>
                  <a:srgbClr val="1F3864"/>
                </a:solidFill>
                <a:latin typeface="Courier New"/>
              </a:rPr>
              <a:t> </a:t>
            </a:r>
            <a:r>
              <a:rPr sz="1400" b="1" dirty="0" err="1">
                <a:solidFill>
                  <a:srgbClr val="1F3864"/>
                </a:solidFill>
                <a:latin typeface="Courier New"/>
              </a:rPr>
              <a:t>mejor</a:t>
            </a:r>
            <a:r>
              <a:rPr sz="1400" b="1" dirty="0">
                <a:solidFill>
                  <a:srgbClr val="1F3864"/>
                </a:solidFill>
                <a:latin typeface="Courier New"/>
              </a:rPr>
              <a:t> </a:t>
            </a:r>
            <a:r>
              <a:rPr sz="1400" b="1" dirty="0" err="1">
                <a:solidFill>
                  <a:srgbClr val="1F3864"/>
                </a:solidFill>
                <a:latin typeface="Courier New"/>
              </a:rPr>
              <a:t>individuo</a:t>
            </a:r>
            <a:endParaRPr sz="1600" b="1" dirty="0">
              <a:solidFill>
                <a:srgbClr val="1F3864"/>
              </a:solidFill>
              <a:latin typeface="Courier New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7B85A3DD-A999-04CA-3B71-92180A71EBEA}"/>
              </a:ext>
            </a:extLst>
          </p:cNvPr>
          <p:cNvGrpSpPr/>
          <p:nvPr/>
        </p:nvGrpSpPr>
        <p:grpSpPr>
          <a:xfrm>
            <a:off x="7142395" y="1314430"/>
            <a:ext cx="5204306" cy="972000"/>
            <a:chOff x="6819693" y="900000"/>
            <a:chExt cx="5204306" cy="972000"/>
          </a:xfrm>
        </p:grpSpPr>
        <p:sp>
          <p:nvSpPr>
            <p:cNvPr id="7" name="Rectangle 6"/>
            <p:cNvSpPr/>
            <p:nvPr/>
          </p:nvSpPr>
          <p:spPr>
            <a:xfrm>
              <a:off x="6840000" y="900000"/>
              <a:ext cx="4916825" cy="9720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2E74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983999" y="954000"/>
              <a:ext cx="5040000" cy="30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900" b="1" i="0">
                  <a:solidFill>
                    <a:srgbClr val="1F3864"/>
                  </a:solidFill>
                </a:rPr>
                <a:t>Psel dinámico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819693" y="1231535"/>
              <a:ext cx="5040000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0" i="0" dirty="0">
                  <a:solidFill>
                    <a:srgbClr val="404040"/>
                  </a:solidFill>
                </a:rPr>
                <a:t>Se </a:t>
              </a:r>
              <a:r>
                <a:rPr sz="1700" b="0" i="0" dirty="0" err="1">
                  <a:solidFill>
                    <a:srgbClr val="404040"/>
                  </a:solidFill>
                </a:rPr>
                <a:t>aprende</a:t>
              </a:r>
              <a:r>
                <a:rPr sz="1700" b="0" i="0" dirty="0">
                  <a:solidFill>
                    <a:srgbClr val="404040"/>
                  </a:solidFill>
                </a:rPr>
                <a:t> de TODOS </a:t>
              </a:r>
              <a:r>
                <a:rPr sz="1700" b="0" i="0" dirty="0" err="1">
                  <a:solidFill>
                    <a:srgbClr val="404040"/>
                  </a:solidFill>
                </a:rPr>
                <a:t>los</a:t>
              </a:r>
              <a:r>
                <a:rPr lang="es-ES" sz="1700" b="0" i="0" dirty="0">
                  <a:solidFill>
                    <a:srgbClr val="404040"/>
                  </a:solidFill>
                </a:rPr>
                <a:t> </a:t>
              </a:r>
              <a:r>
                <a:rPr sz="1700" b="0" i="0" dirty="0" err="1">
                  <a:solidFill>
                    <a:srgbClr val="404040"/>
                  </a:solidFill>
                </a:rPr>
                <a:t>individuos</a:t>
              </a:r>
              <a:r>
                <a:rPr sz="1700" b="0" i="0" dirty="0">
                  <a:solidFill>
                    <a:srgbClr val="404040"/>
                  </a:solidFill>
                </a:rPr>
                <a:t> </a:t>
              </a:r>
              <a:r>
                <a:rPr sz="1700" b="0" i="0" dirty="0" err="1">
                  <a:solidFill>
                    <a:srgbClr val="404040"/>
                  </a:solidFill>
                </a:rPr>
                <a:t>válidos</a:t>
              </a:r>
              <a:r>
                <a:rPr sz="1700" b="0" i="0" dirty="0">
                  <a:solidFill>
                    <a:srgbClr val="404040"/>
                  </a:solidFill>
                </a:rPr>
                <a:t>, no un </a:t>
              </a:r>
              <a:r>
                <a:rPr lang="es-ES" sz="1700" b="0" i="0" dirty="0">
                  <a:solidFill>
                    <a:srgbClr val="404040"/>
                  </a:solidFill>
                </a:rPr>
                <a:t>N</a:t>
              </a:r>
              <a:r>
                <a:rPr sz="1700" b="0" i="0" dirty="0">
                  <a:solidFill>
                    <a:srgbClr val="404040"/>
                  </a:solidFill>
                </a:rPr>
                <a:t>%
</a:t>
              </a:r>
              <a:r>
                <a:rPr sz="1700" b="0" i="0" dirty="0" err="1">
                  <a:solidFill>
                    <a:srgbClr val="404040"/>
                  </a:solidFill>
                </a:rPr>
                <a:t>fijo</a:t>
              </a:r>
              <a:r>
                <a:rPr sz="1700" b="0" i="0" dirty="0">
                  <a:solidFill>
                    <a:srgbClr val="404040"/>
                  </a:solidFill>
                </a:rPr>
                <a:t> de la población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139B7D1E-6010-DA7E-F2F2-FCCAC9024058}"/>
              </a:ext>
            </a:extLst>
          </p:cNvPr>
          <p:cNvGrpSpPr/>
          <p:nvPr/>
        </p:nvGrpSpPr>
        <p:grpSpPr>
          <a:xfrm>
            <a:off x="7141750" y="2660770"/>
            <a:ext cx="5183999" cy="972000"/>
            <a:chOff x="6840000" y="1980000"/>
            <a:chExt cx="5183999" cy="972000"/>
          </a:xfrm>
        </p:grpSpPr>
        <p:sp>
          <p:nvSpPr>
            <p:cNvPr id="10" name="Rectangle 9"/>
            <p:cNvSpPr/>
            <p:nvPr/>
          </p:nvSpPr>
          <p:spPr>
            <a:xfrm>
              <a:off x="6840000" y="1980000"/>
              <a:ext cx="4916825" cy="9720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2E74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F5E59FB7-BD29-A0B6-D47B-0292FC187AF3}"/>
                </a:ext>
              </a:extLst>
            </p:cNvPr>
            <p:cNvGrpSpPr/>
            <p:nvPr/>
          </p:nvGrpSpPr>
          <p:grpSpPr>
            <a:xfrm>
              <a:off x="6983999" y="2034000"/>
              <a:ext cx="5040000" cy="885553"/>
              <a:chOff x="6983999" y="2034000"/>
              <a:chExt cx="5040000" cy="885553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6983999" y="2034000"/>
                <a:ext cx="5040000" cy="30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900" b="1" i="0" dirty="0" err="1">
                    <a:solidFill>
                      <a:srgbClr val="1F3864"/>
                    </a:solidFill>
                  </a:rPr>
                  <a:t>Diversidad</a:t>
                </a:r>
                <a:r>
                  <a:rPr sz="1900" b="1" i="0" dirty="0">
                    <a:solidFill>
                      <a:srgbClr val="1F3864"/>
                    </a:solidFill>
                  </a:rPr>
                  <a:t> </a:t>
                </a:r>
                <a:r>
                  <a:rPr sz="1900" b="1" i="0" dirty="0" err="1">
                    <a:solidFill>
                      <a:srgbClr val="1F3864"/>
                    </a:solidFill>
                  </a:rPr>
                  <a:t>garantizada</a:t>
                </a:r>
                <a:endParaRPr sz="1900" b="1" i="0" dirty="0">
                  <a:solidFill>
                    <a:srgbClr val="1F3864"/>
                  </a:solidFill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6983999" y="2304000"/>
                <a:ext cx="5040000" cy="6155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700" b="0" i="0" dirty="0" err="1">
                    <a:solidFill>
                      <a:srgbClr val="404040"/>
                    </a:solidFill>
                  </a:rPr>
                  <a:t>Individuo</a:t>
                </a:r>
                <a:r>
                  <a:rPr sz="1700" b="0" i="0" dirty="0">
                    <a:solidFill>
                      <a:srgbClr val="404040"/>
                    </a:solidFill>
                  </a:rPr>
                  <a:t> </a:t>
                </a:r>
                <a:r>
                  <a:rPr sz="1700" b="0" i="0" dirty="0" err="1">
                    <a:solidFill>
                      <a:srgbClr val="404040"/>
                    </a:solidFill>
                  </a:rPr>
                  <a:t>duplicado</a:t>
                </a:r>
                <a:r>
                  <a:rPr sz="1700" b="0" i="0" dirty="0">
                    <a:solidFill>
                      <a:srgbClr val="404040"/>
                    </a:solidFill>
                  </a:rPr>
                  <a:t> →</a:t>
                </a:r>
                <a:r>
                  <a:rPr lang="es-ES" sz="1700" b="0" i="0" dirty="0">
                    <a:solidFill>
                      <a:srgbClr val="404040"/>
                    </a:solidFill>
                  </a:rPr>
                  <a:t> r</a:t>
                </a:r>
                <a:r>
                  <a:rPr sz="1700" b="0" i="0" dirty="0" err="1">
                    <a:solidFill>
                      <a:srgbClr val="404040"/>
                    </a:solidFill>
                  </a:rPr>
                  <a:t>eemplazado</a:t>
                </a:r>
                <a:r>
                  <a:rPr sz="1700" b="0" i="0" dirty="0">
                    <a:solidFill>
                      <a:srgbClr val="404040"/>
                    </a:solidFill>
                  </a:rPr>
                  <a:t> </a:t>
                </a:r>
                <a:r>
                  <a:rPr sz="1700" b="0" i="0" dirty="0" err="1">
                    <a:solidFill>
                      <a:srgbClr val="404040"/>
                    </a:solidFill>
                  </a:rPr>
                  <a:t>por</a:t>
                </a:r>
                <a:r>
                  <a:rPr sz="1700" b="0" i="0" dirty="0">
                    <a:solidFill>
                      <a:srgbClr val="404040"/>
                    </a:solidFill>
                  </a:rPr>
                  <a:t> uno
</a:t>
                </a:r>
                <a:r>
                  <a:rPr lang="es-ES" sz="1700" b="0" i="0" dirty="0">
                    <a:solidFill>
                      <a:srgbClr val="404040"/>
                    </a:solidFill>
                  </a:rPr>
                  <a:t>a</a:t>
                </a:r>
                <a:r>
                  <a:rPr sz="1700" b="0" i="0" dirty="0" err="1">
                    <a:solidFill>
                      <a:srgbClr val="404040"/>
                    </a:solidFill>
                  </a:rPr>
                  <a:t>leatorio</a:t>
                </a:r>
                <a:r>
                  <a:rPr sz="1700" b="0" i="0" dirty="0">
                    <a:solidFill>
                      <a:srgbClr val="404040"/>
                    </a:solidFill>
                  </a:rPr>
                  <a:t> (</a:t>
                </a:r>
                <a:r>
                  <a:rPr sz="1700" b="0" i="0" dirty="0" err="1">
                    <a:solidFill>
                      <a:srgbClr val="404040"/>
                    </a:solidFill>
                  </a:rPr>
                  <a:t>nuevos</a:t>
                </a:r>
                <a:r>
                  <a:rPr sz="1700" b="0" i="0" dirty="0">
                    <a:solidFill>
                      <a:srgbClr val="404040"/>
                    </a:solidFill>
                  </a:rPr>
                  <a:t> edits)</a:t>
                </a:r>
              </a:p>
            </p:txBody>
          </p:sp>
        </p:grp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BB93D5AF-9F80-65FA-49FD-58E1048F740B}"/>
              </a:ext>
            </a:extLst>
          </p:cNvPr>
          <p:cNvGrpSpPr/>
          <p:nvPr/>
        </p:nvGrpSpPr>
        <p:grpSpPr>
          <a:xfrm>
            <a:off x="7162702" y="3960225"/>
            <a:ext cx="5163047" cy="1018885"/>
            <a:chOff x="6860952" y="4000165"/>
            <a:chExt cx="5163047" cy="1018885"/>
          </a:xfrm>
        </p:grpSpPr>
        <p:sp>
          <p:nvSpPr>
            <p:cNvPr id="13" name="Rectangle 12"/>
            <p:cNvSpPr/>
            <p:nvPr/>
          </p:nvSpPr>
          <p:spPr>
            <a:xfrm>
              <a:off x="6860952" y="4047050"/>
              <a:ext cx="4895873" cy="9720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2E74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83999" y="4000165"/>
              <a:ext cx="4562568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900" b="1" i="0" dirty="0">
                  <a:solidFill>
                    <a:srgbClr val="1F3864"/>
                  </a:solidFill>
                </a:rPr>
                <a:t>Sin </a:t>
              </a:r>
              <a:r>
                <a:rPr sz="1900" b="1" i="0" dirty="0" err="1">
                  <a:solidFill>
                    <a:srgbClr val="1F3864"/>
                  </a:solidFill>
                </a:rPr>
                <a:t>hiperparámetros</a:t>
              </a:r>
              <a:r>
                <a:rPr lang="es-ES" sz="1900" b="1" dirty="0">
                  <a:solidFill>
                    <a:srgbClr val="1F3864"/>
                  </a:solidFill>
                </a:rPr>
                <a:t> </a:t>
              </a:r>
              <a:r>
                <a:rPr sz="1900" b="1" i="0" dirty="0">
                  <a:solidFill>
                    <a:srgbClr val="1F3864"/>
                  </a:solidFill>
                </a:rPr>
                <a:t>de </a:t>
              </a:r>
              <a:r>
                <a:rPr sz="1900" b="1" i="0" dirty="0" err="1">
                  <a:solidFill>
                    <a:srgbClr val="1F3864"/>
                  </a:solidFill>
                </a:rPr>
                <a:t>cruce</a:t>
              </a:r>
              <a:r>
                <a:rPr sz="1900" b="1" i="0" dirty="0">
                  <a:solidFill>
                    <a:srgbClr val="1F3864"/>
                  </a:solidFill>
                </a:rPr>
                <a:t>/</a:t>
              </a:r>
              <a:r>
                <a:rPr sz="1900" b="1" i="0" dirty="0" err="1">
                  <a:solidFill>
                    <a:srgbClr val="1F3864"/>
                  </a:solidFill>
                </a:rPr>
                <a:t>mutación</a:t>
              </a:r>
              <a:endParaRPr sz="1900" b="1" i="0" dirty="0">
                <a:solidFill>
                  <a:srgbClr val="1F3864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983999" y="4338001"/>
              <a:ext cx="5040000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0" i="0" dirty="0">
                  <a:solidFill>
                    <a:srgbClr val="404040"/>
                  </a:solidFill>
                </a:rPr>
                <a:t>Solo N y </a:t>
              </a:r>
              <a:r>
                <a:rPr sz="1700" b="0" i="0" dirty="0" err="1">
                  <a:solidFill>
                    <a:srgbClr val="404040"/>
                  </a:solidFill>
                </a:rPr>
                <a:t>kmax</a:t>
              </a:r>
              <a:r>
                <a:rPr sz="1700" b="0" i="0" dirty="0">
                  <a:solidFill>
                    <a:srgbClr val="404040"/>
                  </a:solidFill>
                </a:rPr>
                <a:t>=2</a:t>
              </a:r>
              <a:r>
                <a:rPr lang="es-ES" sz="1700" dirty="0">
                  <a:solidFill>
                    <a:srgbClr val="404040"/>
                  </a:solidFill>
                </a:rPr>
                <a:t> </a:t>
              </a:r>
              <a:r>
                <a:rPr lang="es-ES" sz="1700" b="0" i="0" dirty="0">
                  <a:solidFill>
                    <a:srgbClr val="404040"/>
                  </a:solidFill>
                </a:rPr>
                <a:t>n</a:t>
              </a:r>
              <a:r>
                <a:rPr sz="1700" b="0" i="0" dirty="0" err="1">
                  <a:solidFill>
                    <a:srgbClr val="404040"/>
                  </a:solidFill>
                </a:rPr>
                <a:t>ecesarios</a:t>
              </a:r>
              <a:endParaRPr sz="1700" b="0" i="0" dirty="0">
                <a:solidFill>
                  <a:srgbClr val="404040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1DCE1-8A58-0E0F-5677-499B06A3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9301AE-1A2E-727D-4518-BE5861C1CEBC}"/>
              </a:ext>
            </a:extLst>
          </p:cNvPr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UMDA4GI — </a:t>
            </a:r>
            <a:r>
              <a:rPr sz="2800" b="1" dirty="0" err="1">
                <a:solidFill>
                  <a:srgbClr val="FFFFFF"/>
                </a:solidFill>
              </a:rPr>
              <a:t>Algoritmo</a:t>
            </a:r>
            <a:endParaRPr sz="2800" b="1" dirty="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0565CF-88B5-BA8C-7997-B5F17297BE2F}"/>
              </a:ext>
            </a:extLst>
          </p:cNvPr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544DD-6F4F-E1FA-2979-50626E9A7AA7}"/>
              </a:ext>
            </a:extLst>
          </p:cNvPr>
          <p:cNvSpPr txBox="1"/>
          <p:nvPr/>
        </p:nvSpPr>
        <p:spPr>
          <a:xfrm>
            <a:off x="180000" y="6624000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Pablo Bermejo · UCLM · JISBD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28BB29-82FE-7F94-503F-8712C6300B80}"/>
              </a:ext>
            </a:extLst>
          </p:cNvPr>
          <p:cNvSpPr/>
          <p:nvPr/>
        </p:nvSpPr>
        <p:spPr>
          <a:xfrm>
            <a:off x="224879" y="1061123"/>
            <a:ext cx="6664444" cy="1237623"/>
          </a:xfrm>
          <a:prstGeom prst="rect">
            <a:avLst/>
          </a:prstGeom>
          <a:solidFill>
            <a:srgbClr val="F8F8F8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ED1C59-95DC-ABE0-43B1-53FE07AFAC60}"/>
              </a:ext>
            </a:extLst>
          </p:cNvPr>
          <p:cNvSpPr txBox="1"/>
          <p:nvPr/>
        </p:nvSpPr>
        <p:spPr>
          <a:xfrm>
            <a:off x="637565" y="1061123"/>
            <a:ext cx="64425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lang="es-ES" sz="1400" dirty="0">
                <a:solidFill>
                  <a:srgbClr val="2E74B5"/>
                </a:solidFill>
                <a:latin typeface="Courier New"/>
              </a:rPr>
              <a:t>Aprender distribución  Mᵢ  sobre </a:t>
            </a:r>
            <a:r>
              <a:rPr lang="es-ES" sz="1400" dirty="0" err="1">
                <a:solidFill>
                  <a:srgbClr val="2E74B5"/>
                </a:solidFill>
                <a:latin typeface="Courier New"/>
              </a:rPr>
              <a:t>edits</a:t>
            </a:r>
            <a:r>
              <a:rPr lang="es-ES" sz="1400" dirty="0">
                <a:solidFill>
                  <a:srgbClr val="2E74B5"/>
                </a:solidFill>
                <a:latin typeface="Courier New"/>
              </a:rPr>
              <a:t> en </a:t>
            </a:r>
            <a:r>
              <a:rPr lang="es-ES" sz="1400" dirty="0" err="1">
                <a:solidFill>
                  <a:srgbClr val="2E74B5"/>
                </a:solidFill>
                <a:latin typeface="Courier New"/>
              </a:rPr>
              <a:t>Psel</a:t>
            </a:r>
            <a:endParaRPr lang="es-ES" sz="1400" dirty="0">
              <a:solidFill>
                <a:srgbClr val="2E74B5"/>
              </a:solidFill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lang="es-ES" sz="1400" dirty="0">
                <a:solidFill>
                  <a:srgbClr val="404040"/>
                </a:solidFill>
                <a:latin typeface="Courier New"/>
              </a:rPr>
              <a:t>pool ← romper todos los parches en </a:t>
            </a:r>
            <a:r>
              <a:rPr lang="es-ES" sz="1400" dirty="0" err="1">
                <a:solidFill>
                  <a:srgbClr val="404040"/>
                </a:solidFill>
                <a:latin typeface="Courier New"/>
              </a:rPr>
              <a:t>edits</a:t>
            </a:r>
            <a:r>
              <a:rPr lang="es-ES" sz="1400" dirty="0">
                <a:solidFill>
                  <a:srgbClr val="404040"/>
                </a:solidFill>
                <a:latin typeface="Courier New"/>
              </a:rPr>
              <a:t> individuales</a:t>
            </a:r>
          </a:p>
          <a:p>
            <a:pPr>
              <a:spcBef>
                <a:spcPts val="200"/>
              </a:spcBef>
            </a:pPr>
            <a:r>
              <a:rPr lang="es-ES" sz="1400" dirty="0">
                <a:solidFill>
                  <a:srgbClr val="404040"/>
                </a:solidFill>
                <a:latin typeface="Courier New"/>
              </a:rPr>
              <a:t>Para cada </a:t>
            </a:r>
            <a:r>
              <a:rPr lang="es-ES" sz="1400" dirty="0" err="1">
                <a:solidFill>
                  <a:srgbClr val="404040"/>
                </a:solidFill>
                <a:latin typeface="Courier New"/>
              </a:rPr>
              <a:t>edit</a:t>
            </a:r>
            <a:endParaRPr lang="es-ES" sz="1400" dirty="0">
              <a:solidFill>
                <a:srgbClr val="404040"/>
              </a:solidFill>
              <a:latin typeface="Courier New"/>
            </a:endParaRPr>
          </a:p>
          <a:p>
            <a:pPr>
              <a:spcBef>
                <a:spcPts val="200"/>
              </a:spcBef>
            </a:pPr>
            <a:r>
              <a:rPr lang="es-ES" sz="1400" dirty="0">
                <a:solidFill>
                  <a:srgbClr val="404040"/>
                </a:solidFill>
                <a:latin typeface="Courier New"/>
              </a:rPr>
              <a:t>  p(</a:t>
            </a:r>
            <a:r>
              <a:rPr lang="es-ES" sz="1400" dirty="0" err="1">
                <a:solidFill>
                  <a:srgbClr val="404040"/>
                </a:solidFill>
                <a:latin typeface="Courier New"/>
              </a:rPr>
              <a:t>edit_j</a:t>
            </a:r>
            <a:r>
              <a:rPr lang="es-ES" sz="1400" dirty="0">
                <a:solidFill>
                  <a:srgbClr val="404040"/>
                </a:solidFill>
                <a:latin typeface="Courier New"/>
              </a:rPr>
              <a:t>) ← probabilidad marginal de cada </a:t>
            </a:r>
            <a:r>
              <a:rPr lang="es-ES" sz="1400" dirty="0" err="1">
                <a:solidFill>
                  <a:srgbClr val="404040"/>
                </a:solidFill>
                <a:latin typeface="Courier New"/>
              </a:rPr>
              <a:t>edit</a:t>
            </a:r>
            <a:r>
              <a:rPr lang="es-ES" sz="1400" dirty="0">
                <a:solidFill>
                  <a:srgbClr val="404040"/>
                </a:solidFill>
                <a:latin typeface="Courier New"/>
              </a:rPr>
              <a:t> único</a:t>
            </a:r>
          </a:p>
          <a:p>
            <a:pPr>
              <a:spcBef>
                <a:spcPts val="200"/>
              </a:spcBef>
            </a:pPr>
            <a:r>
              <a:rPr lang="es-ES" sz="1400" dirty="0">
                <a:solidFill>
                  <a:srgbClr val="2E74B5"/>
                </a:solidFill>
                <a:latin typeface="Courier New"/>
              </a:rPr>
              <a:t>  Mᵢ</a:t>
            </a:r>
            <a:r>
              <a:rPr lang="es-ES" sz="1400" dirty="0">
                <a:solidFill>
                  <a:srgbClr val="404040"/>
                </a:solidFill>
                <a:latin typeface="Courier New"/>
              </a:rPr>
              <a:t> ← </a:t>
            </a:r>
            <a:r>
              <a:rPr lang="es-ES" sz="1400" dirty="0">
                <a:solidFill>
                  <a:srgbClr val="2E74B5"/>
                </a:solidFill>
                <a:latin typeface="Courier New"/>
              </a:rPr>
              <a:t>Mᵢ U </a:t>
            </a:r>
            <a:r>
              <a:rPr lang="es-ES" sz="1400" dirty="0">
                <a:solidFill>
                  <a:srgbClr val="404040"/>
                </a:solidFill>
                <a:latin typeface="Courier New"/>
              </a:rPr>
              <a:t>p(</a:t>
            </a:r>
            <a:r>
              <a:rPr lang="es-ES" sz="1400" dirty="0" err="1">
                <a:solidFill>
                  <a:srgbClr val="404040"/>
                </a:solidFill>
                <a:latin typeface="Courier New"/>
              </a:rPr>
              <a:t>edit_j</a:t>
            </a:r>
            <a:r>
              <a:rPr lang="es-ES" sz="1400" dirty="0">
                <a:solidFill>
                  <a:srgbClr val="404040"/>
                </a:solidFill>
                <a:latin typeface="Courier New"/>
              </a:rPr>
              <a:t>)</a:t>
            </a:r>
            <a:endParaRPr lang="es-ES" sz="1400" dirty="0">
              <a:solidFill>
                <a:srgbClr val="2E74B5"/>
              </a:solidFill>
              <a:latin typeface="Courier New"/>
            </a:endParaRPr>
          </a:p>
          <a:p>
            <a:pPr>
              <a:spcBef>
                <a:spcPts val="200"/>
              </a:spcBef>
            </a:pPr>
            <a:endParaRPr lang="es-ES" sz="1400" dirty="0">
              <a:solidFill>
                <a:srgbClr val="2E74B5"/>
              </a:solidFill>
              <a:latin typeface="Courier New"/>
            </a:endParaRPr>
          </a:p>
          <a:p>
            <a:pPr>
              <a:spcBef>
                <a:spcPts val="200"/>
              </a:spcBef>
            </a:pPr>
            <a:endParaRPr lang="es-ES" sz="1400" dirty="0">
              <a:solidFill>
                <a:srgbClr val="2E74B5"/>
              </a:solidFill>
              <a:latin typeface="Courier New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6CFA2369-42B6-60DE-6844-4645C0543F94}"/>
              </a:ext>
            </a:extLst>
          </p:cNvPr>
          <p:cNvSpPr txBox="1">
            <a:spLocks/>
          </p:cNvSpPr>
          <p:nvPr/>
        </p:nvSpPr>
        <p:spPr>
          <a:xfrm>
            <a:off x="731519" y="2269867"/>
            <a:ext cx="11022331" cy="425475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dirty="0"/>
          </a:p>
          <a:p>
            <a:r>
              <a:rPr lang="en-GB" sz="1800" dirty="0" err="1"/>
              <a:t>Ejemplo</a:t>
            </a:r>
            <a:r>
              <a:rPr lang="en-GB" sz="1800" dirty="0"/>
              <a:t>:</a:t>
            </a:r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endParaRPr lang="en-GB" sz="1800" dirty="0"/>
          </a:p>
          <a:p>
            <a:pPr marL="0" indent="0" algn="ctr">
              <a:buNone/>
            </a:pPr>
            <a:r>
              <a:rPr lang="en-GB" sz="1800" dirty="0"/>
              <a:t>El primer edit </a:t>
            </a:r>
            <a:r>
              <a:rPr lang="en-GB" sz="1800" dirty="0" err="1"/>
              <a:t>en</a:t>
            </a:r>
            <a:r>
              <a:rPr lang="en-GB" sz="1800" dirty="0"/>
              <a:t> ambos parches </a:t>
            </a:r>
            <a:r>
              <a:rPr lang="en-GB" sz="1800" dirty="0" err="1"/>
              <a:t>aparece</a:t>
            </a:r>
            <a:r>
              <a:rPr lang="en-GB" sz="1800" dirty="0"/>
              <a:t> 2 </a:t>
            </a:r>
            <a:r>
              <a:rPr lang="en-GB" sz="1800" dirty="0" err="1"/>
              <a:t>veces</a:t>
            </a:r>
            <a:endParaRPr lang="en-GB" sz="1800" dirty="0"/>
          </a:p>
          <a:p>
            <a:pPr marL="0" indent="0" algn="ctr">
              <a:buNone/>
            </a:pPr>
            <a:r>
              <a:rPr lang="en-GB" sz="1800" dirty="0"/>
              <a:t>Cada Segundo edit </a:t>
            </a:r>
            <a:r>
              <a:rPr lang="en-GB" sz="1800" dirty="0" err="1"/>
              <a:t>aparece</a:t>
            </a:r>
            <a:r>
              <a:rPr lang="en-GB" sz="1800" dirty="0"/>
              <a:t> solo 1 </a:t>
            </a:r>
            <a:r>
              <a:rPr lang="en-GB" sz="1800" dirty="0" err="1"/>
              <a:t>vez</a:t>
            </a:r>
            <a:r>
              <a:rPr lang="en-GB" sz="1800" dirty="0"/>
              <a:t>.</a:t>
            </a:r>
          </a:p>
          <a:p>
            <a:pPr marL="0" indent="0" algn="ctr">
              <a:buNone/>
            </a:pPr>
            <a:r>
              <a:rPr lang="en-GB" sz="1800" dirty="0"/>
              <a:t>p[</a:t>
            </a:r>
            <a:r>
              <a:rPr lang="en-GB" sz="1800" dirty="0" err="1">
                <a:latin typeface="Arabic Typesetting" panose="020F0502020204030204" pitchFamily="66" charset="-78"/>
                <a:cs typeface="Arabic Typesetting" panose="020F0502020204030204" pitchFamily="66" charset="-78"/>
              </a:rPr>
              <a:t>XmlNodeDeletion</a:t>
            </a:r>
            <a:r>
              <a:rPr lang="en-GB" sz="1800" dirty="0">
                <a:latin typeface="Arabic Typesetting" panose="020F0502020204030204" pitchFamily="66" charset="-78"/>
                <a:cs typeface="Arabic Typesetting" panose="020F0502020204030204" pitchFamily="66" charset="-78"/>
              </a:rPr>
              <a:t>&lt;</a:t>
            </a:r>
            <a:r>
              <a:rPr lang="en-GB" sz="1800" dirty="0" err="1">
                <a:latin typeface="Arabic Typesetting" panose="020F0502020204030204" pitchFamily="66" charset="-78"/>
                <a:cs typeface="Arabic Typesetting" panose="020F0502020204030204" pitchFamily="66" charset="-78"/>
              </a:rPr>
              <a:t>stmt</a:t>
            </a:r>
            <a:r>
              <a:rPr lang="en-GB" sz="1800" dirty="0">
                <a:latin typeface="Arabic Typesetting" panose="020F0502020204030204" pitchFamily="66" charset="-78"/>
                <a:cs typeface="Arabic Typesetting" panose="020F0502020204030204" pitchFamily="66" charset="-78"/>
              </a:rPr>
              <a:t>&gt; (target="x = 10;")</a:t>
            </a:r>
            <a:r>
              <a:rPr lang="en-GB" sz="1800" dirty="0"/>
              <a:t>] ←</a:t>
            </a:r>
            <a:r>
              <a:rPr lang="en-GB" sz="1800" dirty="0">
                <a:latin typeface="Arabic Typesetting" panose="020F0502020204030204" pitchFamily="66" charset="-78"/>
                <a:cs typeface="Arabic Typesetting" panose="020F0502020204030204" pitchFamily="66" charset="-78"/>
                <a:sym typeface="Wingdings" panose="05000000000000000000" pitchFamily="2" charset="2"/>
              </a:rPr>
              <a:t> 2/3 (</a:t>
            </a:r>
            <a:r>
              <a:rPr lang="en-GB" sz="1800" dirty="0" err="1">
                <a:latin typeface="Arabic Typesetting" panose="020F0502020204030204" pitchFamily="66" charset="-78"/>
                <a:cs typeface="Arabic Typesetting" panose="020F0502020204030204" pitchFamily="66" charset="-78"/>
                <a:sym typeface="Wingdings" panose="05000000000000000000" pitchFamily="2" charset="2"/>
              </a:rPr>
              <a:t>tres</a:t>
            </a:r>
            <a:r>
              <a:rPr lang="en-GB" sz="1800" dirty="0">
                <a:latin typeface="Arabic Typesetting" panose="020F0502020204030204" pitchFamily="66" charset="-78"/>
                <a:cs typeface="Arabic Typesetting" panose="020F0502020204030204" pitchFamily="66" charset="-78"/>
                <a:sym typeface="Wingdings" panose="05000000000000000000" pitchFamily="2" charset="2"/>
              </a:rPr>
              <a:t> edits </a:t>
            </a:r>
            <a:r>
              <a:rPr lang="en-GB" sz="1800" dirty="0" err="1">
                <a:latin typeface="Arabic Typesetting" panose="020F0502020204030204" pitchFamily="66" charset="-78"/>
                <a:cs typeface="Arabic Typesetting" panose="020F0502020204030204" pitchFamily="66" charset="-78"/>
                <a:sym typeface="Wingdings" panose="05000000000000000000" pitchFamily="2" charset="2"/>
              </a:rPr>
              <a:t>únicos</a:t>
            </a:r>
            <a:r>
              <a:rPr lang="en-GB" sz="1800" dirty="0">
                <a:latin typeface="Arabic Typesetting" panose="020F0502020204030204" pitchFamily="66" charset="-78"/>
                <a:cs typeface="Arabic Typesetting" panose="020F0502020204030204" pitchFamily="66" charset="-78"/>
                <a:sym typeface="Wingdings" panose="05000000000000000000" pitchFamily="2" charset="2"/>
              </a:rPr>
              <a:t>)</a:t>
            </a:r>
          </a:p>
          <a:p>
            <a:pPr marL="0" indent="0" algn="ctr">
              <a:buNone/>
            </a:pPr>
            <a:r>
              <a:rPr lang="en-GB" sz="1800" dirty="0"/>
              <a:t>p[</a:t>
            </a:r>
            <a:r>
              <a:rPr lang="en-GB" sz="1800" dirty="0" err="1">
                <a:latin typeface="Arabic Typesetting" panose="020F0502020204030204" pitchFamily="66" charset="-78"/>
                <a:cs typeface="Arabic Typesetting" panose="020F0502020204030204" pitchFamily="66" charset="-78"/>
              </a:rPr>
              <a:t>XmlNodeInsertion</a:t>
            </a:r>
            <a:r>
              <a:rPr lang="en-GB" sz="1800" dirty="0">
                <a:latin typeface="Arabic Typesetting" panose="020F0502020204030204" pitchFamily="66" charset="-78"/>
                <a:cs typeface="Arabic Typesetting" panose="020F0502020204030204" pitchFamily="66" charset="-78"/>
              </a:rPr>
              <a:t>&lt;</a:t>
            </a:r>
            <a:r>
              <a:rPr lang="en-GB" sz="1800" dirty="0" err="1">
                <a:latin typeface="Arabic Typesetting" panose="020F0502020204030204" pitchFamily="66" charset="-78"/>
                <a:cs typeface="Arabic Typesetting" panose="020F0502020204030204" pitchFamily="66" charset="-78"/>
              </a:rPr>
              <a:t>stmt</a:t>
            </a:r>
            <a:r>
              <a:rPr lang="en-GB" sz="1800" dirty="0">
                <a:latin typeface="Arabic Typesetting" panose="020F0502020204030204" pitchFamily="66" charset="-78"/>
                <a:cs typeface="Arabic Typesetting" panose="020F0502020204030204" pitchFamily="66" charset="-78"/>
              </a:rPr>
              <a:t>, block&gt; (target="if (x &gt; 5)", ingredient="print('Greater than 5');")</a:t>
            </a:r>
            <a:r>
              <a:rPr lang="en-GB" sz="1800" dirty="0"/>
              <a:t>]</a:t>
            </a:r>
            <a:r>
              <a:rPr lang="en-GB" sz="1800" dirty="0">
                <a:latin typeface="Arabic Typesetting" panose="020F0502020204030204" pitchFamily="66" charset="-78"/>
                <a:cs typeface="Arabic Typesetting" panose="020F0502020204030204" pitchFamily="66" charset="-78"/>
              </a:rPr>
              <a:t> </a:t>
            </a:r>
            <a:r>
              <a:rPr lang="en-GB" sz="1800" dirty="0"/>
              <a:t>←</a:t>
            </a:r>
            <a:r>
              <a:rPr lang="en-GB" sz="1800" dirty="0">
                <a:latin typeface="Arabic Typesetting" panose="020F0502020204030204" pitchFamily="66" charset="-78"/>
                <a:cs typeface="Arabic Typesetting" panose="020F0502020204030204" pitchFamily="66" charset="-78"/>
                <a:sym typeface="Wingdings" panose="05000000000000000000" pitchFamily="2" charset="2"/>
              </a:rPr>
              <a:t> 1/3</a:t>
            </a:r>
            <a:endParaRPr lang="en-GB" sz="1800" dirty="0">
              <a:latin typeface="Arabic Typesetting" panose="020F0502020204030204" pitchFamily="66" charset="-78"/>
              <a:cs typeface="Arabic Typesetting" panose="020F0502020204030204" pitchFamily="66" charset="-78"/>
            </a:endParaRPr>
          </a:p>
          <a:p>
            <a:pPr marL="0" indent="0" algn="ctr">
              <a:buNone/>
            </a:pPr>
            <a:endParaRPr lang="en-GB" sz="1800" dirty="0"/>
          </a:p>
          <a:p>
            <a:endParaRPr lang="en-GB" sz="1800" dirty="0"/>
          </a:p>
          <a:p>
            <a:pPr marL="0" indent="0" algn="ctr">
              <a:buFont typeface="Arial"/>
              <a:buNone/>
            </a:pPr>
            <a:endParaRPr lang="en-GB" sz="1800" dirty="0"/>
          </a:p>
          <a:p>
            <a:endParaRPr lang="en-GB" sz="1800" dirty="0"/>
          </a:p>
          <a:p>
            <a:pPr marL="0" indent="0">
              <a:buFont typeface="Arial"/>
              <a:buNone/>
            </a:pPr>
            <a:endParaRPr lang="en-GB" sz="18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9110B33-D1A9-5904-0F2F-3F7325BDAB93}"/>
              </a:ext>
            </a:extLst>
          </p:cNvPr>
          <p:cNvSpPr txBox="1"/>
          <p:nvPr/>
        </p:nvSpPr>
        <p:spPr>
          <a:xfrm>
            <a:off x="1061085" y="3184908"/>
            <a:ext cx="5362575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sz="1400" noProof="0" dirty="0">
                <a:effectLst/>
                <a:latin typeface="Arabic Typesetting" panose="020F0502020204030204" pitchFamily="66" charset="-78"/>
                <a:cs typeface="Arabic Typesetting" panose="020F0502020204030204" pitchFamily="66" charset="-78"/>
              </a:rPr>
              <a:t>Patch 1:</a:t>
            </a:r>
            <a:br>
              <a:rPr lang="en-GB" sz="1400" noProof="0" dirty="0">
                <a:effectLst/>
                <a:latin typeface="Arabic Typesetting" panose="020F0502020204030204" pitchFamily="66" charset="-78"/>
                <a:cs typeface="Arabic Typesetting" panose="020F0502020204030204" pitchFamily="66" charset="-78"/>
              </a:rPr>
            </a:br>
            <a:r>
              <a:rPr lang="en-GB" sz="1400" noProof="0" dirty="0">
                <a:effectLst/>
                <a:latin typeface="Arabic Typesetting" panose="020F0502020204030204" pitchFamily="66" charset="-78"/>
                <a:cs typeface="Arabic Typesetting" panose="020F0502020204030204" pitchFamily="66" charset="-78"/>
              </a:rPr>
              <a:t>  Edit 1: XmlNodeDeletion&lt;</a:t>
            </a:r>
            <a:r>
              <a:rPr lang="en-GB" sz="1400" noProof="0" dirty="0" err="1">
                <a:effectLst/>
                <a:latin typeface="Arabic Typesetting" panose="020F0502020204030204" pitchFamily="66" charset="-78"/>
                <a:cs typeface="Arabic Typesetting" panose="020F0502020204030204" pitchFamily="66" charset="-78"/>
              </a:rPr>
              <a:t>stmt</a:t>
            </a:r>
            <a:r>
              <a:rPr lang="en-GB" sz="1400" noProof="0" dirty="0">
                <a:effectLst/>
                <a:latin typeface="Arabic Typesetting" panose="020F0502020204030204" pitchFamily="66" charset="-78"/>
                <a:cs typeface="Arabic Typesetting" panose="020F0502020204030204" pitchFamily="66" charset="-78"/>
              </a:rPr>
              <a:t>&gt; (target="x = 10;")</a:t>
            </a:r>
            <a:br>
              <a:rPr lang="en-GB" sz="1400" noProof="0" dirty="0">
                <a:effectLst/>
                <a:latin typeface="Arabic Typesetting" panose="020F0502020204030204" pitchFamily="66" charset="-78"/>
                <a:cs typeface="Arabic Typesetting" panose="020F0502020204030204" pitchFamily="66" charset="-78"/>
              </a:rPr>
            </a:br>
            <a:r>
              <a:rPr lang="en-GB" sz="1400" noProof="0" dirty="0">
                <a:effectLst/>
                <a:latin typeface="Arabic Typesetting" panose="020F0502020204030204" pitchFamily="66" charset="-78"/>
                <a:cs typeface="Arabic Typesetting" panose="020F0502020204030204" pitchFamily="66" charset="-78"/>
              </a:rPr>
              <a:t>  Edit 2: </a:t>
            </a:r>
            <a:r>
              <a:rPr lang="en-GB" sz="1400" noProof="0" dirty="0" err="1">
                <a:effectLst/>
                <a:latin typeface="Arabic Typesetting" panose="020F0502020204030204" pitchFamily="66" charset="-78"/>
                <a:cs typeface="Arabic Typesetting" panose="020F0502020204030204" pitchFamily="66" charset="-78"/>
              </a:rPr>
              <a:t>XmlNodeInsertion</a:t>
            </a:r>
            <a:r>
              <a:rPr lang="en-GB" sz="1400" noProof="0" dirty="0">
                <a:effectLst/>
                <a:latin typeface="Arabic Typesetting" panose="020F0502020204030204" pitchFamily="66" charset="-78"/>
                <a:cs typeface="Arabic Typesetting" panose="020F0502020204030204" pitchFamily="66" charset="-78"/>
              </a:rPr>
              <a:t>&lt;</a:t>
            </a:r>
            <a:r>
              <a:rPr lang="en-GB" sz="1400" noProof="0" dirty="0" err="1">
                <a:effectLst/>
                <a:latin typeface="Arabic Typesetting" panose="020F0502020204030204" pitchFamily="66" charset="-78"/>
                <a:cs typeface="Arabic Typesetting" panose="020F0502020204030204" pitchFamily="66" charset="-78"/>
              </a:rPr>
              <a:t>stmt</a:t>
            </a:r>
            <a:r>
              <a:rPr lang="en-GB" sz="1400" noProof="0" dirty="0">
                <a:effectLst/>
                <a:latin typeface="Arabic Typesetting" panose="020F0502020204030204" pitchFamily="66" charset="-78"/>
                <a:cs typeface="Arabic Typesetting" panose="020F0502020204030204" pitchFamily="66" charset="-78"/>
              </a:rPr>
              <a:t>, block&gt; (target="if (x &gt; 5)", ingredient="print('Greater than 5');")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3C94F44-FEA8-89A3-DAF7-8F4040058743}"/>
              </a:ext>
            </a:extLst>
          </p:cNvPr>
          <p:cNvSpPr txBox="1"/>
          <p:nvPr/>
        </p:nvSpPr>
        <p:spPr>
          <a:xfrm>
            <a:off x="6648450" y="3222388"/>
            <a:ext cx="5105400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sz="1400" noProof="0" dirty="0">
                <a:latin typeface="Arabic Typesetting" panose="020F0502020204030204" pitchFamily="66" charset="-78"/>
                <a:cs typeface="Arabic Typesetting" panose="020F0502020204030204" pitchFamily="66" charset="-78"/>
              </a:rPr>
              <a:t>Patch 2:</a:t>
            </a:r>
            <a:br>
              <a:rPr lang="en-GB" sz="1400" noProof="0" dirty="0">
                <a:latin typeface="Arabic Typesetting" panose="020F0502020204030204" pitchFamily="66" charset="-78"/>
                <a:cs typeface="Arabic Typesetting" panose="020F0502020204030204" pitchFamily="66" charset="-78"/>
              </a:rPr>
            </a:br>
            <a:r>
              <a:rPr lang="en-GB" sz="1400" noProof="0" dirty="0">
                <a:latin typeface="Arabic Typesetting" panose="020F0502020204030204" pitchFamily="66" charset="-78"/>
                <a:cs typeface="Arabic Typesetting" panose="020F0502020204030204" pitchFamily="66" charset="-78"/>
              </a:rPr>
              <a:t>  Edit 1: XmlNodeDeletion&lt;</a:t>
            </a:r>
            <a:r>
              <a:rPr lang="en-GB" sz="1400" noProof="0" dirty="0" err="1">
                <a:latin typeface="Arabic Typesetting" panose="020F0502020204030204" pitchFamily="66" charset="-78"/>
                <a:cs typeface="Arabic Typesetting" panose="020F0502020204030204" pitchFamily="66" charset="-78"/>
              </a:rPr>
              <a:t>stmt</a:t>
            </a:r>
            <a:r>
              <a:rPr lang="en-GB" sz="1400" noProof="0" dirty="0">
                <a:latin typeface="Arabic Typesetting" panose="020F0502020204030204" pitchFamily="66" charset="-78"/>
                <a:cs typeface="Arabic Typesetting" panose="020F0502020204030204" pitchFamily="66" charset="-78"/>
              </a:rPr>
              <a:t>&gt; (target="x = 10;”)</a:t>
            </a:r>
          </a:p>
          <a:p>
            <a:pPr>
              <a:buNone/>
            </a:pPr>
            <a:r>
              <a:rPr lang="en-GB" sz="1400" noProof="0" dirty="0">
                <a:latin typeface="Arabic Typesetting" panose="020F0502020204030204" pitchFamily="66" charset="-78"/>
                <a:cs typeface="Arabic Typesetting" panose="020F0502020204030204" pitchFamily="66" charset="-78"/>
              </a:rPr>
              <a:t>  Edit 2: </a:t>
            </a:r>
            <a:r>
              <a:rPr lang="en-GB" sz="1400" noProof="0" dirty="0" err="1">
                <a:latin typeface="Arabic Typesetting" panose="020F0502020204030204" pitchFamily="66" charset="-78"/>
                <a:cs typeface="Arabic Typesetting" panose="020F0502020204030204" pitchFamily="66" charset="-78"/>
              </a:rPr>
              <a:t>XmlNodeInsertion</a:t>
            </a:r>
            <a:r>
              <a:rPr lang="en-GB" sz="1400" noProof="0" dirty="0">
                <a:latin typeface="Arabic Typesetting" panose="020F0502020204030204" pitchFamily="66" charset="-78"/>
                <a:cs typeface="Arabic Typesetting" panose="020F0502020204030204" pitchFamily="66" charset="-78"/>
              </a:rPr>
              <a:t>&lt;</a:t>
            </a:r>
            <a:r>
              <a:rPr lang="en-GB" sz="1400" noProof="0" dirty="0" err="1">
                <a:latin typeface="Arabic Typesetting" panose="020F0502020204030204" pitchFamily="66" charset="-78"/>
                <a:cs typeface="Arabic Typesetting" panose="020F0502020204030204" pitchFamily="66" charset="-78"/>
              </a:rPr>
              <a:t>stmt</a:t>
            </a:r>
            <a:r>
              <a:rPr lang="en-GB" sz="1400" noProof="0" dirty="0">
                <a:latin typeface="Arabic Typesetting" panose="020F0502020204030204" pitchFamily="66" charset="-78"/>
                <a:cs typeface="Arabic Typesetting" panose="020F0502020204030204" pitchFamily="66" charset="-78"/>
              </a:rPr>
              <a:t>, block&gt; (target="while (!done)", ingredient="done = true;")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68A4AA51-0775-E180-A08A-8282954DFF0E}"/>
              </a:ext>
            </a:extLst>
          </p:cNvPr>
          <p:cNvSpPr txBox="1"/>
          <p:nvPr/>
        </p:nvSpPr>
        <p:spPr>
          <a:xfrm>
            <a:off x="7080141" y="1644403"/>
            <a:ext cx="3946317" cy="58477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l"/>
            <a:r>
              <a:rPr lang="es-E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edit</a:t>
            </a:r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único:</a:t>
            </a:r>
          </a:p>
          <a:p>
            <a:pPr algn="l"/>
            <a:r>
              <a:rPr lang="es-ES" sz="1600" b="0" i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operación&lt;target, </a:t>
            </a:r>
            <a:r>
              <a:rPr lang="es-E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Ingredient</a:t>
            </a:r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&gt;</a:t>
            </a:r>
            <a:endParaRPr sz="1600" b="0" i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180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l"/>
            <a:r>
              <a:rPr sz="2800" b="1" dirty="0" err="1">
                <a:solidFill>
                  <a:srgbClr val="FFFFFF"/>
                </a:solidFill>
              </a:rPr>
              <a:t>Diseño</a:t>
            </a:r>
            <a:r>
              <a:rPr sz="2800" b="1" dirty="0">
                <a:solidFill>
                  <a:srgbClr val="FFFFFF"/>
                </a:solidFill>
              </a:rPr>
              <a:t> experimental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" y="6624000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Pablo Bermejo · UCLM · JISBD 2026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543E2C2B-5D9D-4836-9BC4-D7509F288283}"/>
              </a:ext>
            </a:extLst>
          </p:cNvPr>
          <p:cNvGrpSpPr/>
          <p:nvPr/>
        </p:nvGrpSpPr>
        <p:grpSpPr>
          <a:xfrm>
            <a:off x="3527999" y="1501329"/>
            <a:ext cx="5940000" cy="3024000"/>
            <a:chOff x="216000" y="1845000"/>
            <a:chExt cx="5940000" cy="3024000"/>
          </a:xfrm>
        </p:grpSpPr>
        <p:sp>
          <p:nvSpPr>
            <p:cNvPr id="5" name="Rectangle 4"/>
            <p:cNvSpPr/>
            <p:nvPr/>
          </p:nvSpPr>
          <p:spPr>
            <a:xfrm>
              <a:off x="216000" y="1845000"/>
              <a:ext cx="5940000" cy="30240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2E74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60000" y="1881000"/>
              <a:ext cx="5580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i="0" dirty="0">
                  <a:solidFill>
                    <a:srgbClr val="1F3864"/>
                  </a:solidFill>
                </a:rPr>
                <a:t>4 </a:t>
              </a:r>
              <a:r>
                <a:rPr sz="2000" b="1" i="0" dirty="0" err="1">
                  <a:solidFill>
                    <a:srgbClr val="1F3864"/>
                  </a:solidFill>
                </a:rPr>
                <a:t>Algoritmos</a:t>
              </a:r>
              <a:r>
                <a:rPr sz="2000" b="1" i="0" dirty="0">
                  <a:solidFill>
                    <a:srgbClr val="1F3864"/>
                  </a:solidFill>
                </a:rPr>
                <a:t> </a:t>
              </a:r>
              <a:r>
                <a:rPr lang="es-ES" sz="2000" b="1" i="0" dirty="0">
                  <a:solidFill>
                    <a:srgbClr val="1F3864"/>
                  </a:solidFill>
                </a:rPr>
                <a:t>evolutivos </a:t>
              </a:r>
              <a:r>
                <a:rPr sz="2000" b="1" i="0" dirty="0" err="1">
                  <a:solidFill>
                    <a:srgbClr val="1F3864"/>
                  </a:solidFill>
                </a:rPr>
                <a:t>comparados</a:t>
              </a:r>
              <a:r>
                <a:rPr lang="es-ES" sz="2000" b="1" i="0" dirty="0">
                  <a:solidFill>
                    <a:srgbClr val="1F3864"/>
                  </a:solidFill>
                </a:rPr>
                <a:t> [</a:t>
              </a:r>
              <a:r>
                <a:rPr lang="es-ES" sz="2000" b="1" i="0" dirty="0" err="1">
                  <a:solidFill>
                    <a:srgbClr val="1F3864"/>
                  </a:solidFill>
                </a:rPr>
                <a:t>pop_size</a:t>
              </a:r>
              <a:r>
                <a:rPr lang="es-ES" sz="2000" b="1" i="0" dirty="0">
                  <a:solidFill>
                    <a:srgbClr val="1F3864"/>
                  </a:solidFill>
                </a:rPr>
                <a:t>=50]</a:t>
              </a:r>
              <a:endParaRPr sz="2000" b="1" i="0" dirty="0">
                <a:solidFill>
                  <a:srgbClr val="1F3864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31999" y="2241000"/>
              <a:ext cx="5400000" cy="27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900" b="0" i="0">
                  <a:solidFill>
                    <a:srgbClr val="404040"/>
                  </a:solidFill>
                </a:rPr>
                <a:t>▸ First Improvement (FI)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1999" y="2492999"/>
              <a:ext cx="5400000" cy="27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i="0">
                  <a:solidFill>
                    <a:srgbClr val="404040"/>
                  </a:solidFill>
                </a:rPr>
                <a:t>   Búsqueda local hill-climbing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1999" y="2853000"/>
              <a:ext cx="5400000" cy="27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900" b="0" i="0" dirty="0">
                  <a:solidFill>
                    <a:srgbClr val="404040"/>
                  </a:solidFill>
                </a:rPr>
                <a:t>▸ Genetic Programming (GP)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31999" y="3104999"/>
              <a:ext cx="5400000" cy="27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i="0">
                  <a:solidFill>
                    <a:srgbClr val="404040"/>
                  </a:solidFill>
                </a:rPr>
                <a:t>   Algoritmo genético clásico (MAGPIE default)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31999" y="3465000"/>
              <a:ext cx="5400000" cy="27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900" b="0" i="0">
                  <a:solidFill>
                    <a:srgbClr val="404040"/>
                  </a:solidFill>
                </a:rPr>
                <a:t>▸ Random Search (RS)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31999" y="3716999"/>
              <a:ext cx="5400000" cy="27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i="0">
                  <a:solidFill>
                    <a:srgbClr val="404040"/>
                  </a:solidFill>
                </a:rPr>
                <a:t>   Baseline aleatoria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31999" y="4077000"/>
              <a:ext cx="5400000" cy="27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900" b="1" i="0">
                  <a:solidFill>
                    <a:srgbClr val="1F3864"/>
                  </a:solidFill>
                </a:rPr>
                <a:t>▸ UMDA4GI  ★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1999" y="4328999"/>
              <a:ext cx="54000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600" b="0" i="0" dirty="0">
                  <a:solidFill>
                    <a:srgbClr val="404040"/>
                  </a:solidFill>
                </a:rPr>
                <a:t>   Nuestra </a:t>
              </a:r>
              <a:r>
                <a:rPr sz="1600" b="0" i="0" dirty="0" err="1">
                  <a:solidFill>
                    <a:srgbClr val="404040"/>
                  </a:solidFill>
                </a:rPr>
                <a:t>propuesta</a:t>
              </a:r>
              <a:endParaRPr sz="1600" b="0" i="0" dirty="0">
                <a:solidFill>
                  <a:srgbClr val="404040"/>
                </a:solidFill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42C5078B-3055-A981-0EA0-D9DD1D1A8D4E}"/>
              </a:ext>
            </a:extLst>
          </p:cNvPr>
          <p:cNvGrpSpPr/>
          <p:nvPr/>
        </p:nvGrpSpPr>
        <p:grpSpPr>
          <a:xfrm>
            <a:off x="3527999" y="4919552"/>
            <a:ext cx="5940000" cy="1296000"/>
            <a:chOff x="6408000" y="3501000"/>
            <a:chExt cx="5580000" cy="1296000"/>
          </a:xfrm>
        </p:grpSpPr>
        <p:sp>
          <p:nvSpPr>
            <p:cNvPr id="21" name="Rectangle 20"/>
            <p:cNvSpPr/>
            <p:nvPr/>
          </p:nvSpPr>
          <p:spPr>
            <a:xfrm>
              <a:off x="6408000" y="3501000"/>
              <a:ext cx="5580000" cy="12960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2E74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572825" y="3545280"/>
              <a:ext cx="5400000" cy="28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800" b="1" i="0">
                  <a:solidFill>
                    <a:srgbClr val="1F3864"/>
                  </a:solidFill>
                </a:rPr>
                <a:t>Infraestructura HPC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516000" y="3825000"/>
              <a:ext cx="5400000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0" i="0" dirty="0" err="1">
                  <a:solidFill>
                    <a:srgbClr val="404040"/>
                  </a:solidFill>
                </a:rPr>
                <a:t>Clúster</a:t>
              </a:r>
              <a:r>
                <a:rPr sz="1700" b="0" i="0" dirty="0">
                  <a:solidFill>
                    <a:srgbClr val="404040"/>
                  </a:solidFill>
                </a:rPr>
                <a:t> </a:t>
              </a:r>
              <a:r>
                <a:rPr sz="1700" b="0" i="0" dirty="0" err="1">
                  <a:solidFill>
                    <a:srgbClr val="404040"/>
                  </a:solidFill>
                </a:rPr>
                <a:t>galgo</a:t>
              </a:r>
              <a:r>
                <a:rPr sz="1700" b="0" i="0" dirty="0">
                  <a:solidFill>
                    <a:srgbClr val="404040"/>
                  </a:solidFill>
                </a:rPr>
                <a:t> (SLURM) · </a:t>
              </a:r>
              <a:r>
                <a:rPr sz="1700" b="0" i="0" dirty="0" err="1">
                  <a:solidFill>
                    <a:srgbClr val="404040"/>
                  </a:solidFill>
                </a:rPr>
                <a:t>Nodo</a:t>
              </a:r>
              <a:r>
                <a:rPr sz="1700" b="0" i="0" dirty="0">
                  <a:solidFill>
                    <a:srgbClr val="404040"/>
                  </a:solidFill>
                </a:rPr>
                <a:t> </a:t>
              </a:r>
              <a:r>
                <a:rPr sz="1700" b="0" i="0" dirty="0" err="1">
                  <a:solidFill>
                    <a:srgbClr val="404040"/>
                  </a:solidFill>
                </a:rPr>
                <a:t>dedicado</a:t>
              </a:r>
              <a:r>
                <a:rPr sz="1700" b="0" i="0" dirty="0">
                  <a:solidFill>
                    <a:srgbClr val="404040"/>
                  </a:solidFill>
                </a:rPr>
                <a:t> </a:t>
              </a:r>
              <a:r>
                <a:rPr sz="1700" b="0" i="0" dirty="0" err="1">
                  <a:solidFill>
                    <a:srgbClr val="404040"/>
                  </a:solidFill>
                </a:rPr>
                <a:t>por</a:t>
              </a:r>
              <a:r>
                <a:rPr sz="1700" b="0" i="0" dirty="0">
                  <a:solidFill>
                    <a:srgbClr val="404040"/>
                  </a:solidFill>
                </a:rPr>
                <a:t> </a:t>
              </a:r>
              <a:r>
                <a:rPr sz="1700" b="0" i="0" dirty="0" err="1">
                  <a:solidFill>
                    <a:srgbClr val="404040"/>
                  </a:solidFill>
                </a:rPr>
                <a:t>experimento</a:t>
              </a:r>
              <a:r>
                <a:rPr sz="1700" b="0" i="0" dirty="0">
                  <a:solidFill>
                    <a:srgbClr val="404040"/>
                  </a:solidFill>
                </a:rPr>
                <a:t>
</a:t>
              </a:r>
              <a:r>
                <a:rPr sz="1700" b="0" i="0" dirty="0" err="1">
                  <a:solidFill>
                    <a:srgbClr val="404040"/>
                  </a:solidFill>
                </a:rPr>
                <a:t>Métrica</a:t>
              </a:r>
              <a:r>
                <a:rPr sz="1700" b="0" i="0" dirty="0">
                  <a:solidFill>
                    <a:srgbClr val="404040"/>
                  </a:solidFill>
                </a:rPr>
                <a:t>: wall-clock time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1EC8B17A-7487-1795-D08D-2C89C90436E7}"/>
              </a:ext>
            </a:extLst>
          </p:cNvPr>
          <p:cNvGrpSpPr/>
          <p:nvPr/>
        </p:nvGrpSpPr>
        <p:grpSpPr>
          <a:xfrm>
            <a:off x="4860624" y="4209542"/>
            <a:ext cx="3312000" cy="1440000"/>
            <a:chOff x="4914624" y="4407804"/>
            <a:chExt cx="3312000" cy="1440000"/>
          </a:xfrm>
        </p:grpSpPr>
        <p:sp>
          <p:nvSpPr>
            <p:cNvPr id="2" name="Rectangle 14"/>
            <p:cNvSpPr/>
            <p:nvPr/>
          </p:nvSpPr>
          <p:spPr>
            <a:xfrm>
              <a:off x="4914624" y="4407804"/>
              <a:ext cx="3204000" cy="14400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2E74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60296" y="4573340"/>
              <a:ext cx="296632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800" b="1" i="0" dirty="0">
                  <a:solidFill>
                    <a:srgbClr val="1F3864"/>
                  </a:solidFill>
                </a:rPr>
                <a:t>5 </a:t>
              </a:r>
              <a:r>
                <a:rPr sz="1800" b="1" i="0" dirty="0" err="1">
                  <a:solidFill>
                    <a:srgbClr val="1F3864"/>
                  </a:solidFill>
                </a:rPr>
                <a:t>Presupuestos</a:t>
              </a:r>
              <a:r>
                <a:rPr sz="1800" b="1" i="0" dirty="0">
                  <a:solidFill>
                    <a:srgbClr val="1F3864"/>
                  </a:solidFill>
                </a:rPr>
                <a:t> (max evals)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022624" y="5133953"/>
              <a:ext cx="309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 i="0" dirty="0">
                  <a:solidFill>
                    <a:srgbClr val="C55A11"/>
                  </a:solidFill>
                </a:rPr>
                <a:t>100 · 250 · 500 · 750 · 1000</a:t>
              </a: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841A7F05-F863-2B41-8D8F-7FE27F7B32FC}"/>
              </a:ext>
            </a:extLst>
          </p:cNvPr>
          <p:cNvSpPr txBox="1"/>
          <p:nvPr/>
        </p:nvSpPr>
        <p:spPr>
          <a:xfrm>
            <a:off x="3468624" y="1523992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noProof="0" dirty="0">
                <a:solidFill>
                  <a:srgbClr val="333333"/>
                </a:solidFill>
                <a:latin typeface="Georgia" panose="02040502050405020303" pitchFamily="18" charset="0"/>
              </a:rPr>
              <a:t>‘Since any specification is not fair, it is needed to use various termination conditions’</a:t>
            </a:r>
          </a:p>
          <a:p>
            <a:endParaRPr lang="en-GB" i="1" noProof="0" dirty="0">
              <a:solidFill>
                <a:srgbClr val="333333"/>
              </a:solidFill>
              <a:latin typeface="Georgia" panose="02040502050405020303" pitchFamily="18" charset="0"/>
            </a:endParaRPr>
          </a:p>
          <a:p>
            <a:r>
              <a:rPr lang="en-GB" b="0" i="1" noProof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‘it is not likely that a single algorithm is always the best over a wide range of generations,</a:t>
            </a:r>
            <a:endParaRPr lang="en-GB" i="1" noProof="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832F61D-E914-766F-C2F1-1A910102BF50}"/>
              </a:ext>
            </a:extLst>
          </p:cNvPr>
          <p:cNvSpPr txBox="1"/>
          <p:nvPr/>
        </p:nvSpPr>
        <p:spPr>
          <a:xfrm>
            <a:off x="7268464" y="34402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[Ishibuchi22]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C386BD1-5CB8-D3BD-58A2-256D59D59381}"/>
              </a:ext>
            </a:extLst>
          </p:cNvPr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r>
              <a:rPr lang="es-ES" sz="2800" b="1" dirty="0">
                <a:solidFill>
                  <a:srgbClr val="FFFFFF"/>
                </a:solidFill>
              </a:rPr>
              <a:t>Diseño experimental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79B011C3-339F-BF94-CD2C-32F03F746E9B}"/>
              </a:ext>
            </a:extLst>
          </p:cNvPr>
          <p:cNvSpPr txBox="1"/>
          <p:nvPr/>
        </p:nvSpPr>
        <p:spPr>
          <a:xfrm>
            <a:off x="180000" y="6624000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Pablo Bermejo · UCLM · JISBD 2026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714F877-15A0-4209-AE5E-1C9B4CA111AC}"/>
              </a:ext>
            </a:extLst>
          </p:cNvPr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503777A2-E853-C8A0-10F0-19D15B2AF89A}"/>
              </a:ext>
            </a:extLst>
          </p:cNvPr>
          <p:cNvSpPr txBox="1"/>
          <p:nvPr/>
        </p:nvSpPr>
        <p:spPr>
          <a:xfrm>
            <a:off x="180000" y="6630096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</a:rPr>
              <a:t>Pablo Bermejo · UCLM · JISBD 2026</a:t>
            </a:r>
          </a:p>
        </p:txBody>
      </p:sp>
    </p:spTree>
    <p:extLst>
      <p:ext uri="{BB962C8B-B14F-4D97-AF65-F5344CB8AC3E}">
        <p14:creationId xmlns:p14="http://schemas.microsoft.com/office/powerpoint/2010/main" val="2427912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Banco de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" y="6624000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Pablo Bermejo · UCLM · JISBD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7999" y="1554622"/>
            <a:ext cx="11468952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404040"/>
                </a:solidFill>
              </a:rPr>
              <a:t>4 </a:t>
            </a:r>
            <a:r>
              <a:rPr sz="2000" b="0" i="1" dirty="0" err="1">
                <a:solidFill>
                  <a:srgbClr val="404040"/>
                </a:solidFill>
              </a:rPr>
              <a:t>aplicaciones</a:t>
            </a:r>
            <a:r>
              <a:rPr sz="2000" b="0" i="1" dirty="0">
                <a:solidFill>
                  <a:srgbClr val="404040"/>
                </a:solidFill>
              </a:rPr>
              <a:t> reales de </a:t>
            </a:r>
            <a:r>
              <a:rPr sz="2000" b="0" i="1" dirty="0" err="1">
                <a:solidFill>
                  <a:srgbClr val="404040"/>
                </a:solidFill>
              </a:rPr>
              <a:t>código</a:t>
            </a:r>
            <a:r>
              <a:rPr sz="2000" b="0" i="1" dirty="0">
                <a:solidFill>
                  <a:srgbClr val="404040"/>
                </a:solidFill>
              </a:rPr>
              <a:t> </a:t>
            </a:r>
            <a:r>
              <a:rPr sz="2000" b="0" i="1" dirty="0" err="1">
                <a:solidFill>
                  <a:srgbClr val="404040"/>
                </a:solidFill>
              </a:rPr>
              <a:t>abierto</a:t>
            </a:r>
            <a:r>
              <a:rPr sz="2000" b="0" i="1" dirty="0">
                <a:solidFill>
                  <a:srgbClr val="404040"/>
                </a:solidFill>
              </a:rPr>
              <a:t> · 3 </a:t>
            </a:r>
            <a:r>
              <a:rPr sz="2000" b="0" i="1" dirty="0" err="1">
                <a:solidFill>
                  <a:srgbClr val="404040"/>
                </a:solidFill>
              </a:rPr>
              <a:t>lenguajes</a:t>
            </a:r>
            <a:r>
              <a:rPr sz="2000" b="0" i="1" dirty="0">
                <a:solidFill>
                  <a:srgbClr val="404040"/>
                </a:solidFill>
              </a:rPr>
              <a:t> · </a:t>
            </a:r>
            <a:r>
              <a:rPr sz="2000" b="0" i="1" dirty="0" err="1">
                <a:solidFill>
                  <a:srgbClr val="404040"/>
                </a:solidFill>
              </a:rPr>
              <a:t>dominios</a:t>
            </a:r>
            <a:r>
              <a:rPr sz="2000" b="0" i="1" dirty="0">
                <a:solidFill>
                  <a:srgbClr val="404040"/>
                </a:solidFill>
              </a:rPr>
              <a:t> </a:t>
            </a:r>
            <a:r>
              <a:rPr sz="2000" b="0" i="1" dirty="0" err="1">
                <a:solidFill>
                  <a:srgbClr val="404040"/>
                </a:solidFill>
              </a:rPr>
              <a:t>distintos</a:t>
            </a:r>
            <a:endParaRPr sz="2000" b="0" i="1" dirty="0">
              <a:solidFill>
                <a:srgbClr val="40404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9999" y="2213999"/>
            <a:ext cx="2880000" cy="3006002"/>
          </a:xfrm>
          <a:prstGeom prst="rect">
            <a:avLst/>
          </a:prstGeom>
          <a:solidFill>
            <a:srgbClr val="F2F2F2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9999" y="2213999"/>
            <a:ext cx="2880000" cy="39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1999" y="22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MiniSAT-hack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7999" y="2681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Lenguaje: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999" y="2681998"/>
            <a:ext cx="16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C++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999" y="3239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Dominio: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999" y="3239998"/>
            <a:ext cx="16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SAT Solving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999" y="3797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Objetivo: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999" y="3797998"/>
            <a:ext cx="16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Solver.cc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999" y="4355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</a:rPr>
              <a:t>Datos: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999" y="4355998"/>
            <a:ext cx="1764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 dirty="0">
                <a:solidFill>
                  <a:srgbClr val="404040"/>
                </a:solidFill>
              </a:rPr>
              <a:t>20 </a:t>
            </a:r>
            <a:r>
              <a:rPr sz="1500" b="0" i="0" dirty="0" err="1">
                <a:solidFill>
                  <a:srgbClr val="404040"/>
                </a:solidFill>
              </a:rPr>
              <a:t>archivos</a:t>
            </a:r>
            <a:r>
              <a:rPr sz="1500" b="0" i="0" dirty="0">
                <a:solidFill>
                  <a:srgbClr val="404040"/>
                </a:solidFill>
              </a:rPr>
              <a:t> .</a:t>
            </a:r>
            <a:r>
              <a:rPr sz="1500" b="0" i="0" dirty="0" err="1">
                <a:solidFill>
                  <a:srgbClr val="404040"/>
                </a:solidFill>
              </a:rPr>
              <a:t>cnf</a:t>
            </a:r>
            <a:r>
              <a:rPr sz="1500" b="0" i="0" dirty="0">
                <a:solidFill>
                  <a:srgbClr val="404040"/>
                </a:solidFill>
              </a:rPr>
              <a:t> 
50–200 variables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3999" y="2213999"/>
            <a:ext cx="2880000" cy="3006002"/>
          </a:xfrm>
          <a:prstGeom prst="rect">
            <a:avLst/>
          </a:prstGeom>
          <a:solidFill>
            <a:srgbClr val="F2F2F2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3999" y="2213999"/>
            <a:ext cx="2880000" cy="396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75999" y="22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Sat4J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1999" y="2681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4B5"/>
                </a:solidFill>
              </a:rPr>
              <a:t>Lenguaje: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9999" y="2681998"/>
            <a:ext cx="16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Java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3239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4B5"/>
                </a:solidFill>
              </a:rPr>
              <a:t>Dominio: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9999" y="3239998"/>
            <a:ext cx="16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SAT Solving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1999" y="3797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4B5"/>
                </a:solidFill>
              </a:rPr>
              <a:t>Objetivo: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9999" y="3797998"/>
            <a:ext cx="16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(múltiples clases)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1999" y="4355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4B5"/>
                </a:solidFill>
              </a:rPr>
              <a:t>Datos: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9999" y="4355998"/>
            <a:ext cx="16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Mismo corpus que MiniSAT-hack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6000" y="2213999"/>
            <a:ext cx="2987998" cy="3006002"/>
          </a:xfrm>
          <a:prstGeom prst="rect">
            <a:avLst/>
          </a:prstGeom>
          <a:solidFill>
            <a:srgbClr val="F2F2F2"/>
          </a:solidFill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27999" y="2213999"/>
            <a:ext cx="2880000" cy="3960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99999" y="22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Weka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5999" y="2681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55A11"/>
                </a:solidFill>
              </a:rPr>
              <a:t>Lenguaje: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3999" y="2681998"/>
            <a:ext cx="16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Java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5999" y="3239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55A11"/>
                </a:solidFill>
              </a:rPr>
              <a:t>Dominio: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3999" y="3239998"/>
            <a:ext cx="16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Machine Learning
(Random Forest)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5999" y="3797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55A11"/>
                </a:solidFill>
              </a:rPr>
              <a:t>Objetivo: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3999" y="3797998"/>
            <a:ext cx="16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RandomForest.java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35999" y="4355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55A11"/>
                </a:solidFill>
              </a:rPr>
              <a:t>Datos: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3999" y="4355998"/>
            <a:ext cx="16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20 datasets .arff  (adjuntos al SW)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51999" y="2213999"/>
            <a:ext cx="2880000" cy="3006002"/>
          </a:xfrm>
          <a:prstGeom prst="rect">
            <a:avLst/>
          </a:prstGeom>
          <a:solidFill>
            <a:srgbClr val="F2F2F2"/>
          </a:solidFill>
          <a:ln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251999" y="2213999"/>
            <a:ext cx="2880000" cy="396000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23999" y="2231999"/>
            <a:ext cx="27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OptimPNG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9999" y="2681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8644"/>
                </a:solidFill>
              </a:rPr>
              <a:t>Lenguaje: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67999" y="2681998"/>
            <a:ext cx="16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59999" y="3239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8644"/>
                </a:solidFill>
              </a:rPr>
              <a:t>Dominio: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7999" y="3239998"/>
            <a:ext cx="16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Optimización PNG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59999" y="3797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8644"/>
                </a:solidFill>
              </a:rPr>
              <a:t>Objetivo: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67999" y="3797998"/>
            <a:ext cx="16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optipng.c, optmi.c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59999" y="4355998"/>
            <a:ext cx="1007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78644"/>
                </a:solidFill>
              </a:rPr>
              <a:t>Datos: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67999" y="4355998"/>
            <a:ext cx="1655999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04040"/>
                </a:solidFill>
              </a:rPr>
              <a:t>29 imágenes PNG  (color, repositorio ImageMagick)</a:t>
            </a:r>
          </a:p>
        </p:txBody>
      </p:sp>
      <p:grpSp>
        <p:nvGrpSpPr>
          <p:cNvPr id="50" name="Grupo 49">
            <a:extLst>
              <a:ext uri="{FF2B5EF4-FFF2-40B4-BE49-F238E27FC236}">
                <a16:creationId xmlns:a16="http://schemas.microsoft.com/office/drawing/2014/main" id="{D00161D7-13C9-361B-8F3B-3CB9BE151173}"/>
              </a:ext>
            </a:extLst>
          </p:cNvPr>
          <p:cNvGrpSpPr/>
          <p:nvPr/>
        </p:nvGrpSpPr>
        <p:grpSpPr>
          <a:xfrm>
            <a:off x="44326" y="5378000"/>
            <a:ext cx="7047840" cy="989996"/>
            <a:chOff x="9723801" y="2182637"/>
            <a:chExt cx="3263564" cy="959997"/>
          </a:xfrm>
        </p:grpSpPr>
        <p:sp>
          <p:nvSpPr>
            <p:cNvPr id="51" name="Rectangle 17"/>
            <p:cNvSpPr/>
            <p:nvPr/>
          </p:nvSpPr>
          <p:spPr>
            <a:xfrm>
              <a:off x="9778702" y="2191365"/>
              <a:ext cx="2232000" cy="951269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2E74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18"/>
            <p:cNvSpPr txBox="1"/>
            <p:nvPr/>
          </p:nvSpPr>
          <p:spPr>
            <a:xfrm>
              <a:off x="10467365" y="2182637"/>
              <a:ext cx="2520000" cy="28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800" b="1" i="0" dirty="0" err="1">
                  <a:solidFill>
                    <a:srgbClr val="1F3864"/>
                  </a:solidFill>
                </a:rPr>
                <a:t>Validación</a:t>
              </a:r>
              <a:r>
                <a:rPr sz="1800" b="1" i="0" dirty="0">
                  <a:solidFill>
                    <a:srgbClr val="1F3864"/>
                  </a:solidFill>
                </a:rPr>
                <a:t> </a:t>
              </a:r>
              <a:r>
                <a:rPr sz="1800" b="1" i="0" dirty="0" err="1">
                  <a:solidFill>
                    <a:srgbClr val="1F3864"/>
                  </a:solidFill>
                </a:rPr>
                <a:t>cruzada</a:t>
              </a:r>
              <a:endParaRPr sz="1800" b="1" i="0" dirty="0">
                <a:solidFill>
                  <a:srgbClr val="1F3864"/>
                </a:solidFill>
              </a:endParaRPr>
            </a:p>
          </p:txBody>
        </p:sp>
        <p:sp>
          <p:nvSpPr>
            <p:cNvPr id="53" name="TextBox 19"/>
            <p:cNvSpPr txBox="1"/>
            <p:nvPr/>
          </p:nvSpPr>
          <p:spPr>
            <a:xfrm>
              <a:off x="9723801" y="2470650"/>
              <a:ext cx="252000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i="0" dirty="0">
                  <a:solidFill>
                    <a:srgbClr val="C55A11"/>
                  </a:solidFill>
                </a:rPr>
                <a:t>5-fold</a:t>
              </a:r>
              <a:r>
                <a:rPr lang="es-ES" sz="2200" b="1" i="0" dirty="0">
                  <a:solidFill>
                    <a:srgbClr val="C55A11"/>
                  </a:solidFill>
                </a:rPr>
                <a:t> </a:t>
              </a:r>
              <a:r>
                <a:rPr sz="2200" b="1" i="0" dirty="0">
                  <a:solidFill>
                    <a:srgbClr val="C55A11"/>
                  </a:solidFill>
                </a:rPr>
                <a:t>cross-validation</a:t>
              </a:r>
            </a:p>
          </p:txBody>
        </p:sp>
      </p:grpSp>
      <p:sp>
        <p:nvSpPr>
          <p:cNvPr id="54" name="TextBox 23"/>
          <p:cNvSpPr txBox="1"/>
          <p:nvPr/>
        </p:nvSpPr>
        <p:spPr>
          <a:xfrm>
            <a:off x="5217768" y="5607868"/>
            <a:ext cx="11612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C55A11"/>
                </a:solidFill>
              </a:rPr>
              <a:t>  Total: 4 </a:t>
            </a:r>
            <a:r>
              <a:rPr sz="2000" b="1" i="0" dirty="0" err="1">
                <a:solidFill>
                  <a:srgbClr val="C55A11"/>
                </a:solidFill>
              </a:rPr>
              <a:t>alg</a:t>
            </a:r>
            <a:r>
              <a:rPr sz="2000" b="1" i="0" dirty="0">
                <a:solidFill>
                  <a:srgbClr val="C55A11"/>
                </a:solidFill>
              </a:rPr>
              <a:t> × 4 </a:t>
            </a:r>
            <a:r>
              <a:rPr sz="2000" b="1" i="0" dirty="0" err="1">
                <a:solidFill>
                  <a:srgbClr val="C55A11"/>
                </a:solidFill>
              </a:rPr>
              <a:t>sw</a:t>
            </a:r>
            <a:r>
              <a:rPr sz="2000" b="1" i="0" dirty="0">
                <a:solidFill>
                  <a:srgbClr val="C55A11"/>
                </a:solidFill>
              </a:rPr>
              <a:t> × 5 budgets × 5 folds = 400 </a:t>
            </a:r>
            <a:r>
              <a:rPr sz="2000" b="1" i="0" dirty="0" err="1">
                <a:solidFill>
                  <a:srgbClr val="C55A11"/>
                </a:solidFill>
              </a:rPr>
              <a:t>experimentos</a:t>
            </a:r>
            <a:endParaRPr sz="2000" b="1" i="0" dirty="0">
              <a:solidFill>
                <a:srgbClr val="C55A1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Resultados I — Reducción de tiempo de ejecución (validación)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" y="6624000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Pablo Bermejo · UCLM · JISBD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827999"/>
            <a:ext cx="8100000" cy="51622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08952" y="1405225"/>
            <a:ext cx="37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1F3864"/>
                </a:solidFill>
              </a:rPr>
              <a:t>Ranking global (</a:t>
            </a:r>
            <a:r>
              <a:rPr sz="1700" b="1" i="0" dirty="0" err="1">
                <a:solidFill>
                  <a:srgbClr val="1F3864"/>
                </a:solidFill>
              </a:rPr>
              <a:t>promedio</a:t>
            </a:r>
            <a:r>
              <a:rPr sz="1700" b="1" i="0" dirty="0">
                <a:solidFill>
                  <a:srgbClr val="1F3864"/>
                </a:solidFill>
              </a:rPr>
              <a:t> </a:t>
            </a:r>
            <a:r>
              <a:rPr sz="1700" b="1" i="0" dirty="0" err="1">
                <a:solidFill>
                  <a:srgbClr val="1F3864"/>
                </a:solidFill>
              </a:rPr>
              <a:t>sobre</a:t>
            </a:r>
            <a:r>
              <a:rPr sz="1700" b="1" i="0" dirty="0">
                <a:solidFill>
                  <a:srgbClr val="1F3864"/>
                </a:solidFill>
              </a:rPr>
              <a:t> </a:t>
            </a:r>
            <a:r>
              <a:rPr sz="1700" b="1" i="0" dirty="0" err="1">
                <a:solidFill>
                  <a:srgbClr val="1F3864"/>
                </a:solidFill>
              </a:rPr>
              <a:t>todos</a:t>
            </a:r>
            <a:r>
              <a:rPr sz="1700" b="1" i="0" dirty="0">
                <a:solidFill>
                  <a:srgbClr val="1F3864"/>
                </a:solidFill>
              </a:rPr>
              <a:t> </a:t>
            </a:r>
            <a:r>
              <a:rPr sz="1700" b="1" i="0" dirty="0" err="1">
                <a:solidFill>
                  <a:srgbClr val="1F3864"/>
                </a:solidFill>
              </a:rPr>
              <a:t>los</a:t>
            </a:r>
            <a:r>
              <a:rPr sz="1700" b="1" i="0" dirty="0">
                <a:solidFill>
                  <a:srgbClr val="1F3864"/>
                </a:solidFill>
              </a:rPr>
              <a:t> </a:t>
            </a:r>
            <a:r>
              <a:rPr sz="1700" b="1" i="0" dirty="0" err="1">
                <a:solidFill>
                  <a:srgbClr val="1F3864"/>
                </a:solidFill>
              </a:rPr>
              <a:t>presupuestos</a:t>
            </a:r>
            <a:r>
              <a:rPr sz="1700" b="1" i="0" dirty="0">
                <a:solidFill>
                  <a:srgbClr val="1F3864"/>
                </a:solidFill>
              </a:rPr>
              <a:t>):</a:t>
            </a:r>
          </a:p>
        </p:txBody>
      </p:sp>
      <p:sp>
        <p:nvSpPr>
          <p:cNvPr id="7" name="Rectangle 6"/>
          <p:cNvSpPr/>
          <p:nvPr/>
        </p:nvSpPr>
        <p:spPr>
          <a:xfrm>
            <a:off x="8370000" y="2091095"/>
            <a:ext cx="1260000" cy="306000"/>
          </a:xfrm>
          <a:prstGeom prst="rect">
            <a:avLst/>
          </a:prstGeom>
          <a:solidFill>
            <a:srgbClr val="1F3864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24000" y="2127095"/>
            <a:ext cx="1152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</a:rPr>
              <a:t>Algoritmo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630000" y="2091095"/>
            <a:ext cx="612000" cy="306000"/>
          </a:xfrm>
          <a:prstGeom prst="rect">
            <a:avLst/>
          </a:prstGeom>
          <a:solidFill>
            <a:srgbClr val="1F3864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67181" y="2127095"/>
            <a:ext cx="7376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 err="1">
                <a:solidFill>
                  <a:srgbClr val="FFFFFF"/>
                </a:solidFill>
              </a:rPr>
              <a:t>minisat</a:t>
            </a:r>
            <a:endParaRPr sz="1400" b="1" dirty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242000" y="2091095"/>
            <a:ext cx="612000" cy="306000"/>
          </a:xfrm>
          <a:prstGeom prst="rect">
            <a:avLst/>
          </a:prstGeom>
          <a:solidFill>
            <a:srgbClr val="1F3864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76163" y="2127095"/>
            <a:ext cx="54367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sat4j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854000" y="2091095"/>
            <a:ext cx="612000" cy="306000"/>
          </a:xfrm>
          <a:prstGeom prst="rect">
            <a:avLst/>
          </a:prstGeom>
          <a:solidFill>
            <a:srgbClr val="1F3864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70690" y="2127095"/>
            <a:ext cx="5786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 err="1">
                <a:solidFill>
                  <a:srgbClr val="FFFFFF"/>
                </a:solidFill>
              </a:rPr>
              <a:t>weka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466000" y="2091095"/>
            <a:ext cx="648000" cy="306000"/>
          </a:xfrm>
          <a:prstGeom prst="rect">
            <a:avLst/>
          </a:prstGeom>
          <a:solidFill>
            <a:srgbClr val="1F3864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23719" y="2127095"/>
            <a:ext cx="9325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 err="1">
                <a:solidFill>
                  <a:srgbClr val="FFFFFF"/>
                </a:solidFill>
              </a:rPr>
              <a:t>pngOptim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370000" y="2397095"/>
            <a:ext cx="1260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24000" y="2415095"/>
            <a:ext cx="1152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First Imp.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30000" y="2397095"/>
            <a:ext cx="612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84000" y="2415095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2000" y="2397095"/>
            <a:ext cx="612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96000" y="2415095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54000" y="2397095"/>
            <a:ext cx="612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08000" y="2415095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66000" y="2397095"/>
            <a:ext cx="648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520000" y="2415095"/>
            <a:ext cx="54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70000" y="2703095"/>
            <a:ext cx="1260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24000" y="2721095"/>
            <a:ext cx="1152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Gen. Prog.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0000" y="2703095"/>
            <a:ext cx="612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84000" y="2721095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2000" y="2703095"/>
            <a:ext cx="612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296000" y="2721095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54000" y="2703095"/>
            <a:ext cx="612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908000" y="2721095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66000" y="2703095"/>
            <a:ext cx="648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520000" y="2721095"/>
            <a:ext cx="54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0000" y="3009095"/>
            <a:ext cx="1260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24000" y="3027095"/>
            <a:ext cx="1152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Rand. 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30000" y="3009095"/>
            <a:ext cx="612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84000" y="3027095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42000" y="3009095"/>
            <a:ext cx="612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296000" y="3027095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54000" y="3009095"/>
            <a:ext cx="612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908000" y="3027095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66000" y="3009095"/>
            <a:ext cx="648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520000" y="3027095"/>
            <a:ext cx="54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70000" y="3315095"/>
            <a:ext cx="1260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24000" y="3333095"/>
            <a:ext cx="1152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>
                <a:solidFill>
                  <a:srgbClr val="1F3864"/>
                </a:solidFill>
              </a:rPr>
              <a:t>UMDA4GI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30000" y="3315095"/>
            <a:ext cx="612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84000" y="3333095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42000" y="3315095"/>
            <a:ext cx="612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96000" y="3333095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54000" y="3315095"/>
            <a:ext cx="612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908000" y="3333095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466000" y="3315095"/>
            <a:ext cx="648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520000" y="3333095"/>
            <a:ext cx="54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70000" y="4410002"/>
            <a:ext cx="3780000" cy="900000"/>
          </a:xfrm>
          <a:prstGeom prst="rect">
            <a:avLst/>
          </a:prstGeom>
          <a:solidFill>
            <a:srgbClr val="E6F0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70000" y="4372921"/>
            <a:ext cx="3636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1F3864"/>
                </a:solidFill>
              </a:rPr>
              <a:t>UMDA4GI: </a:t>
            </a:r>
            <a:r>
              <a:rPr sz="1800" b="1" i="0" dirty="0" err="1">
                <a:solidFill>
                  <a:srgbClr val="1F3864"/>
                </a:solidFill>
              </a:rPr>
              <a:t>único</a:t>
            </a:r>
            <a:r>
              <a:rPr sz="1800" b="1" i="0" dirty="0">
                <a:solidFill>
                  <a:srgbClr val="1F3864"/>
                </a:solidFill>
              </a:rPr>
              <a:t> </a:t>
            </a:r>
            <a:r>
              <a:rPr sz="1800" b="1" i="0" dirty="0" err="1">
                <a:solidFill>
                  <a:srgbClr val="1F3864"/>
                </a:solidFill>
              </a:rPr>
              <a:t>algoritmo</a:t>
            </a:r>
            <a:r>
              <a:rPr sz="1800" b="1" i="0" dirty="0">
                <a:solidFill>
                  <a:srgbClr val="1F3864"/>
                </a:solidFill>
              </a:rPr>
              <a:t> con
2 primeros </a:t>
            </a:r>
            <a:r>
              <a:rPr sz="1800" b="1" i="0" dirty="0" err="1">
                <a:solidFill>
                  <a:srgbClr val="1F3864"/>
                </a:solidFill>
              </a:rPr>
              <a:t>puestos</a:t>
            </a:r>
            <a:r>
              <a:rPr sz="1800" b="1" i="0" dirty="0">
                <a:solidFill>
                  <a:srgbClr val="1F3864"/>
                </a:solidFill>
              </a:rPr>
              <a:t>
(sat4j y </a:t>
            </a:r>
            <a:r>
              <a:rPr sz="1800" b="1" i="0" dirty="0" err="1">
                <a:solidFill>
                  <a:srgbClr val="1F3864"/>
                </a:solidFill>
              </a:rPr>
              <a:t>pngOptim</a:t>
            </a:r>
            <a:r>
              <a:rPr sz="1800" b="1" i="0" dirty="0">
                <a:solidFill>
                  <a:srgbClr val="1F3864"/>
                </a:solidFill>
              </a:rPr>
              <a:t>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00000" y="6141171"/>
            <a:ext cx="81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404040"/>
                </a:solidFill>
              </a:rPr>
              <a:t>↑ Menor es </a:t>
            </a:r>
            <a:r>
              <a:rPr sz="1300" b="0" i="1" dirty="0" err="1">
                <a:solidFill>
                  <a:srgbClr val="404040"/>
                </a:solidFill>
              </a:rPr>
              <a:t>mejor</a:t>
            </a:r>
            <a:r>
              <a:rPr sz="1300" b="0" i="1" dirty="0">
                <a:solidFill>
                  <a:srgbClr val="404040"/>
                </a:solidFill>
              </a:rPr>
              <a:t> (</a:t>
            </a:r>
            <a:r>
              <a:rPr sz="1300" b="0" i="1" dirty="0" err="1">
                <a:solidFill>
                  <a:srgbClr val="404040"/>
                </a:solidFill>
              </a:rPr>
              <a:t>reducción</a:t>
            </a:r>
            <a:r>
              <a:rPr sz="1300" b="0" i="1" dirty="0">
                <a:solidFill>
                  <a:srgbClr val="404040"/>
                </a:solidFill>
              </a:rPr>
              <a:t> %)  ·  Eje Y </a:t>
            </a:r>
            <a:r>
              <a:rPr sz="1300" b="0" i="1" dirty="0" err="1">
                <a:solidFill>
                  <a:srgbClr val="404040"/>
                </a:solidFill>
              </a:rPr>
              <a:t>invertido</a:t>
            </a:r>
            <a:r>
              <a:rPr sz="1300" b="0" i="1" dirty="0">
                <a:solidFill>
                  <a:srgbClr val="404040"/>
                </a:solidFill>
              </a:rPr>
              <a:t> </a:t>
            </a:r>
            <a:r>
              <a:rPr sz="1300" b="0" i="1" dirty="0" err="1">
                <a:solidFill>
                  <a:srgbClr val="404040"/>
                </a:solidFill>
              </a:rPr>
              <a:t>en</a:t>
            </a:r>
            <a:r>
              <a:rPr sz="1300" b="0" i="1" dirty="0">
                <a:solidFill>
                  <a:srgbClr val="404040"/>
                </a:solidFill>
              </a:rPr>
              <a:t> </a:t>
            </a:r>
            <a:r>
              <a:rPr sz="1300" b="0" i="1" dirty="0" err="1">
                <a:solidFill>
                  <a:srgbClr val="404040"/>
                </a:solidFill>
              </a:rPr>
              <a:t>figura</a:t>
            </a:r>
            <a:endParaRPr sz="1300" b="0" i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Resultados II — Sobreajuste (overfitting)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" y="6624000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Pablo Bermejo · UCLM · JISBD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96" y="1317616"/>
            <a:ext cx="7159004" cy="3718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68000" y="827999"/>
            <a:ext cx="45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1F3864"/>
                </a:solidFill>
              </a:rPr>
              <a:t>Ranking — </a:t>
            </a:r>
            <a:r>
              <a:rPr sz="1700" b="1" i="0" dirty="0" err="1">
                <a:solidFill>
                  <a:srgbClr val="1F3864"/>
                </a:solidFill>
              </a:rPr>
              <a:t>menor</a:t>
            </a:r>
            <a:r>
              <a:rPr sz="1700" b="1" i="0" dirty="0">
                <a:solidFill>
                  <a:srgbClr val="1F3864"/>
                </a:solidFill>
              </a:rPr>
              <a:t> </a:t>
            </a:r>
            <a:r>
              <a:rPr sz="1700" b="1" i="0" dirty="0" err="1">
                <a:solidFill>
                  <a:srgbClr val="1F3864"/>
                </a:solidFill>
              </a:rPr>
              <a:t>sobreajuste</a:t>
            </a:r>
            <a:r>
              <a:rPr sz="1700" b="1" i="0" dirty="0">
                <a:solidFill>
                  <a:srgbClr val="1F3864"/>
                </a:solidFill>
              </a:rPr>
              <a:t>
(sin </a:t>
            </a:r>
            <a:r>
              <a:rPr sz="1700" b="1" i="0" dirty="0" err="1">
                <a:solidFill>
                  <a:srgbClr val="1F3864"/>
                </a:solidFill>
              </a:rPr>
              <a:t>RandomSearch</a:t>
            </a:r>
            <a:r>
              <a:rPr sz="1700" b="1" i="0" dirty="0">
                <a:solidFill>
                  <a:srgbClr val="1F3864"/>
                </a:solidFill>
              </a:rPr>
              <a:t>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68000" y="1188000"/>
            <a:ext cx="1260000" cy="306000"/>
          </a:xfrm>
          <a:prstGeom prst="rect">
            <a:avLst/>
          </a:prstGeom>
          <a:solidFill>
            <a:srgbClr val="1F3864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2000" y="1224000"/>
            <a:ext cx="1152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Algoritmo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28000" y="1188000"/>
            <a:ext cx="612000" cy="306000"/>
          </a:xfrm>
          <a:prstGeom prst="rect">
            <a:avLst/>
          </a:prstGeom>
          <a:solidFill>
            <a:srgbClr val="1F3864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82000" y="1224000"/>
            <a:ext cx="504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</a:rPr>
              <a:t>minisat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540000" y="1188000"/>
            <a:ext cx="612000" cy="306000"/>
          </a:xfrm>
          <a:prstGeom prst="rect">
            <a:avLst/>
          </a:prstGeom>
          <a:solidFill>
            <a:srgbClr val="1F3864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94000" y="1224000"/>
            <a:ext cx="504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sat4j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52000" y="1188000"/>
            <a:ext cx="612000" cy="306000"/>
          </a:xfrm>
          <a:prstGeom prst="rect">
            <a:avLst/>
          </a:prstGeom>
          <a:solidFill>
            <a:srgbClr val="1F3864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06000" y="1224000"/>
            <a:ext cx="5040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</a:rPr>
              <a:t>weka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764000" y="1188000"/>
            <a:ext cx="648000" cy="306000"/>
          </a:xfrm>
          <a:prstGeom prst="rect">
            <a:avLst/>
          </a:prstGeom>
          <a:solidFill>
            <a:srgbClr val="1F3864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73752" y="1224000"/>
            <a:ext cx="8284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 err="1">
                <a:solidFill>
                  <a:srgbClr val="FFFFFF"/>
                </a:solidFill>
              </a:rPr>
              <a:t>pngOptim</a:t>
            </a:r>
            <a:endParaRPr sz="1500" b="1" dirty="0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668000" y="1494000"/>
            <a:ext cx="1260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22000" y="1512000"/>
            <a:ext cx="1152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First Imp.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28000" y="1494000"/>
            <a:ext cx="612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82000" y="1512000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40000" y="1494000"/>
            <a:ext cx="612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94000" y="1512000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52000" y="1494000"/>
            <a:ext cx="612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06000" y="1512000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64000" y="1494000"/>
            <a:ext cx="648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818000" y="1512000"/>
            <a:ext cx="54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68000" y="1800000"/>
            <a:ext cx="1260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22000" y="1818000"/>
            <a:ext cx="1152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Gen. Prog.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28000" y="1800000"/>
            <a:ext cx="612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82000" y="1818000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40000" y="1800000"/>
            <a:ext cx="612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94000" y="1818000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52000" y="1800000"/>
            <a:ext cx="612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206000" y="1818000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378644"/>
                </a:solidFill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64000" y="1800000"/>
            <a:ext cx="648000" cy="30600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818000" y="1818000"/>
            <a:ext cx="54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4040"/>
                </a:solidFill>
              </a:rPr>
              <a:t>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68000" y="2106000"/>
            <a:ext cx="1260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22000" y="2124000"/>
            <a:ext cx="1152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</a:rPr>
              <a:t>UMDA4GI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28000" y="2106000"/>
            <a:ext cx="612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82000" y="2124000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</a:rPr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40000" y="2106000"/>
            <a:ext cx="612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94000" y="2124000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</a:rP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52000" y="2106000"/>
            <a:ext cx="612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206000" y="2124000"/>
            <a:ext cx="504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764000" y="2106000"/>
            <a:ext cx="648000" cy="30600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818000" y="2124000"/>
            <a:ext cx="540000" cy="30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596000" y="2636872"/>
            <a:ext cx="4500000" cy="1080000"/>
          </a:xfrm>
          <a:prstGeom prst="rect">
            <a:avLst/>
          </a:prstGeom>
          <a:solidFill>
            <a:srgbClr val="E6F0FF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80000" y="2697902"/>
            <a:ext cx="4356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1F3864"/>
                </a:solidFill>
              </a:rPr>
              <a:t>UMDA4GI: </a:t>
            </a:r>
            <a:r>
              <a:rPr sz="1800" b="1" i="0" dirty="0" err="1">
                <a:solidFill>
                  <a:srgbClr val="1F3864"/>
                </a:solidFill>
              </a:rPr>
              <a:t>menor</a:t>
            </a:r>
            <a:r>
              <a:rPr sz="1800" b="1" i="0" dirty="0">
                <a:solidFill>
                  <a:srgbClr val="1F3864"/>
                </a:solidFill>
              </a:rPr>
              <a:t> </a:t>
            </a:r>
            <a:r>
              <a:rPr sz="1800" b="1" i="0" dirty="0" err="1">
                <a:solidFill>
                  <a:srgbClr val="1F3864"/>
                </a:solidFill>
              </a:rPr>
              <a:t>sobreajuste</a:t>
            </a:r>
            <a:r>
              <a:rPr sz="1800" b="1" i="0" dirty="0">
                <a:solidFill>
                  <a:srgbClr val="1F3864"/>
                </a:solidFill>
              </a:rPr>
              <a:t>
</a:t>
            </a:r>
            <a:r>
              <a:rPr sz="1800" b="1" i="0" dirty="0" err="1">
                <a:solidFill>
                  <a:srgbClr val="1F3864"/>
                </a:solidFill>
              </a:rPr>
              <a:t>en</a:t>
            </a:r>
            <a:r>
              <a:rPr sz="1800" b="1" i="0" dirty="0">
                <a:solidFill>
                  <a:srgbClr val="1F3864"/>
                </a:solidFill>
              </a:rPr>
              <a:t> 3 de 4 </a:t>
            </a:r>
            <a:r>
              <a:rPr sz="1800" b="1" i="0" dirty="0" err="1">
                <a:solidFill>
                  <a:srgbClr val="1F3864"/>
                </a:solidFill>
              </a:rPr>
              <a:t>softwares</a:t>
            </a:r>
            <a:r>
              <a:rPr sz="1800" b="1" i="0" dirty="0">
                <a:solidFill>
                  <a:srgbClr val="1F3864"/>
                </a:solidFill>
              </a:rPr>
              <a:t>
(2º </a:t>
            </a:r>
            <a:r>
              <a:rPr sz="1800" b="1" i="0" dirty="0" err="1">
                <a:solidFill>
                  <a:srgbClr val="1F3864"/>
                </a:solidFill>
              </a:rPr>
              <a:t>en</a:t>
            </a:r>
            <a:r>
              <a:rPr sz="1800" b="1" i="0" dirty="0">
                <a:solidFill>
                  <a:srgbClr val="1F3864"/>
                </a:solidFill>
              </a:rPr>
              <a:t> Weka)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8440" y="5120280"/>
            <a:ext cx="738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300" b="0" i="1" dirty="0">
                <a:solidFill>
                  <a:srgbClr val="404040"/>
                </a:solidFill>
              </a:rPr>
              <a:t>Gráfico con  </a:t>
            </a:r>
            <a:r>
              <a:rPr lang="es-ES" sz="1300" b="0" i="1" dirty="0" err="1">
                <a:solidFill>
                  <a:srgbClr val="404040"/>
                </a:solidFill>
              </a:rPr>
              <a:t>minisat_hack</a:t>
            </a:r>
            <a:endParaRPr lang="es-ES" sz="1300" b="0" i="1" dirty="0">
              <a:solidFill>
                <a:srgbClr val="404040"/>
              </a:solidFill>
            </a:endParaRPr>
          </a:p>
          <a:p>
            <a:pPr algn="l"/>
            <a:r>
              <a:rPr sz="1300" b="0" i="1" dirty="0" err="1">
                <a:solidFill>
                  <a:srgbClr val="404040"/>
                </a:solidFill>
              </a:rPr>
              <a:t>Líneas</a:t>
            </a:r>
            <a:r>
              <a:rPr sz="1300" b="0" i="1" dirty="0">
                <a:solidFill>
                  <a:srgbClr val="404040"/>
                </a:solidFill>
              </a:rPr>
              <a:t> </a:t>
            </a:r>
            <a:r>
              <a:rPr sz="1300" b="0" i="1" dirty="0" err="1">
                <a:solidFill>
                  <a:srgbClr val="404040"/>
                </a:solidFill>
              </a:rPr>
              <a:t>sólidas</a:t>
            </a:r>
            <a:r>
              <a:rPr sz="1300" b="0" i="1" dirty="0">
                <a:solidFill>
                  <a:srgbClr val="404040"/>
                </a:solidFill>
              </a:rPr>
              <a:t> = </a:t>
            </a:r>
            <a:r>
              <a:rPr sz="1300" b="0" i="1" dirty="0" err="1">
                <a:solidFill>
                  <a:srgbClr val="404040"/>
                </a:solidFill>
              </a:rPr>
              <a:t>validación</a:t>
            </a:r>
            <a:r>
              <a:rPr sz="1300" b="0" i="1" dirty="0">
                <a:solidFill>
                  <a:srgbClr val="404040"/>
                </a:solidFill>
              </a:rPr>
              <a:t> · </a:t>
            </a:r>
            <a:r>
              <a:rPr sz="1300" b="0" i="1" dirty="0" err="1">
                <a:solidFill>
                  <a:srgbClr val="404040"/>
                </a:solidFill>
              </a:rPr>
              <a:t>Líneas</a:t>
            </a:r>
            <a:r>
              <a:rPr sz="1300" b="0" i="1" dirty="0">
                <a:solidFill>
                  <a:srgbClr val="404040"/>
                </a:solidFill>
              </a:rPr>
              <a:t> </a:t>
            </a:r>
            <a:r>
              <a:rPr sz="1300" b="0" i="1" dirty="0" err="1">
                <a:solidFill>
                  <a:srgbClr val="404040"/>
                </a:solidFill>
              </a:rPr>
              <a:t>discontinuas</a:t>
            </a:r>
            <a:r>
              <a:rPr sz="1300" b="0" i="1" dirty="0">
                <a:solidFill>
                  <a:srgbClr val="404040"/>
                </a:solidFill>
              </a:rPr>
              <a:t> = </a:t>
            </a:r>
            <a:r>
              <a:rPr sz="1300" b="0" i="1" dirty="0" err="1">
                <a:solidFill>
                  <a:srgbClr val="404040"/>
                </a:solidFill>
              </a:rPr>
              <a:t>entrenamiento</a:t>
            </a:r>
            <a:endParaRPr sz="1300" b="0" i="1" dirty="0">
              <a:solidFill>
                <a:srgbClr val="40404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596000" y="3996000"/>
            <a:ext cx="4500000" cy="540000"/>
          </a:xfrm>
          <a:prstGeom prst="rect">
            <a:avLst/>
          </a:prstGeom>
          <a:solidFill>
            <a:srgbClr val="F2F2F2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12000" y="3941280"/>
            <a:ext cx="435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404040"/>
                </a:solidFill>
              </a:rPr>
              <a:t>Causa probable: </a:t>
            </a:r>
            <a:r>
              <a:rPr sz="1600" b="0" i="0" dirty="0" err="1">
                <a:solidFill>
                  <a:srgbClr val="404040"/>
                </a:solidFill>
              </a:rPr>
              <a:t>kmax</a:t>
            </a:r>
            <a:r>
              <a:rPr sz="1600" b="0" i="0" dirty="0">
                <a:solidFill>
                  <a:srgbClr val="404040"/>
                </a:solidFill>
              </a:rPr>
              <a:t>=2 edits
→ parches </a:t>
            </a:r>
            <a:r>
              <a:rPr sz="1600" b="0" i="0" dirty="0" err="1">
                <a:solidFill>
                  <a:srgbClr val="404040"/>
                </a:solidFill>
              </a:rPr>
              <a:t>cortos</a:t>
            </a:r>
            <a:r>
              <a:rPr sz="1600" b="0" i="0" dirty="0">
                <a:solidFill>
                  <a:srgbClr val="404040"/>
                </a:solidFill>
              </a:rPr>
              <a:t> </a:t>
            </a:r>
            <a:r>
              <a:rPr sz="1600" b="0" i="0" dirty="0" err="1">
                <a:solidFill>
                  <a:srgbClr val="404040"/>
                </a:solidFill>
              </a:rPr>
              <a:t>generalizan</a:t>
            </a:r>
            <a:r>
              <a:rPr sz="1600" b="0" i="0" dirty="0">
                <a:solidFill>
                  <a:srgbClr val="404040"/>
                </a:solidFill>
              </a:rPr>
              <a:t> </a:t>
            </a:r>
            <a:r>
              <a:rPr sz="1600" b="0" i="0" dirty="0" err="1">
                <a:solidFill>
                  <a:srgbClr val="404040"/>
                </a:solidFill>
              </a:rPr>
              <a:t>mejor</a:t>
            </a:r>
            <a:endParaRPr sz="1600" b="0" i="0" dirty="0">
              <a:solidFill>
                <a:srgbClr val="40404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Resultados III — Tiempo de búsqueda y longitud de parches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" y="6624000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Pablo Bermejo · UCLM · JISBD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791667"/>
            <a:ext cx="59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1F3864"/>
                </a:solidFill>
              </a:rPr>
              <a:t>Tiempo de </a:t>
            </a:r>
            <a:r>
              <a:rPr sz="1800" b="1" i="0" dirty="0" err="1">
                <a:solidFill>
                  <a:srgbClr val="1F3864"/>
                </a:solidFill>
              </a:rPr>
              <a:t>búsqueda</a:t>
            </a:r>
            <a:r>
              <a:rPr sz="1800" b="1" i="0" dirty="0">
                <a:solidFill>
                  <a:srgbClr val="1F3864"/>
                </a:solidFill>
              </a:rPr>
              <a:t> (</a:t>
            </a:r>
            <a:r>
              <a:rPr sz="1800" b="1" i="0" dirty="0" err="1">
                <a:solidFill>
                  <a:srgbClr val="1F3864"/>
                </a:solidFill>
              </a:rPr>
              <a:t>minutos</a:t>
            </a:r>
            <a:r>
              <a:rPr sz="1800" b="1" i="0" dirty="0">
                <a:solidFill>
                  <a:srgbClr val="1F3864"/>
                </a:solidFill>
              </a:rPr>
              <a:t>):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080000"/>
            <a:ext cx="6120000" cy="42179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0000" y="827999"/>
            <a:ext cx="55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</a:rPr>
              <a:t>Longitud media del parche (nº de edits):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42" y="1080000"/>
            <a:ext cx="5866658" cy="312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0000" y="5521245"/>
            <a:ext cx="594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404040"/>
                </a:solidFill>
              </a:rPr>
              <a:t>▸ UMDA4GI y GP: </a:t>
            </a:r>
            <a:r>
              <a:rPr sz="1700" b="0" i="0" dirty="0" err="1">
                <a:solidFill>
                  <a:srgbClr val="404040"/>
                </a:solidFill>
              </a:rPr>
              <a:t>los</a:t>
            </a:r>
            <a:r>
              <a:rPr sz="1700" b="0" i="0" dirty="0">
                <a:solidFill>
                  <a:srgbClr val="404040"/>
                </a:solidFill>
              </a:rPr>
              <a:t> </a:t>
            </a:r>
            <a:r>
              <a:rPr sz="1700" b="0" i="0" dirty="0" err="1">
                <a:solidFill>
                  <a:srgbClr val="404040"/>
                </a:solidFill>
              </a:rPr>
              <a:t>algoritmos</a:t>
            </a:r>
            <a:r>
              <a:rPr sz="1700" b="0" i="0" dirty="0">
                <a:solidFill>
                  <a:srgbClr val="404040"/>
                </a:solidFill>
              </a:rPr>
              <a:t> </a:t>
            </a:r>
            <a:r>
              <a:rPr sz="1700" b="0" i="0" dirty="0" err="1">
                <a:solidFill>
                  <a:srgbClr val="404040"/>
                </a:solidFill>
              </a:rPr>
              <a:t>más</a:t>
            </a:r>
            <a:r>
              <a:rPr sz="1700" b="0" i="0" dirty="0">
                <a:solidFill>
                  <a:srgbClr val="404040"/>
                </a:solidFill>
              </a:rPr>
              <a:t> </a:t>
            </a:r>
            <a:r>
              <a:rPr sz="1700" b="0" i="0" dirty="0" err="1">
                <a:solidFill>
                  <a:srgbClr val="404040"/>
                </a:solidFill>
              </a:rPr>
              <a:t>rápidos</a:t>
            </a:r>
            <a:endParaRPr sz="1700" b="0" i="0" dirty="0">
              <a:solidFill>
                <a:srgbClr val="40404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0000" y="5755246"/>
            <a:ext cx="118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404040"/>
                </a:solidFill>
              </a:rPr>
              <a:t>▸ Parches </a:t>
            </a:r>
            <a:r>
              <a:rPr sz="1700" b="0" i="0" dirty="0" err="1">
                <a:solidFill>
                  <a:srgbClr val="404040"/>
                </a:solidFill>
              </a:rPr>
              <a:t>cortos</a:t>
            </a:r>
            <a:r>
              <a:rPr sz="1700" b="0" i="0" dirty="0">
                <a:solidFill>
                  <a:srgbClr val="404040"/>
                </a:solidFill>
              </a:rPr>
              <a:t> (</a:t>
            </a:r>
            <a:r>
              <a:rPr sz="1700" b="0" i="0" dirty="0" err="1">
                <a:solidFill>
                  <a:srgbClr val="404040"/>
                </a:solidFill>
              </a:rPr>
              <a:t>kmax</a:t>
            </a:r>
            <a:r>
              <a:rPr sz="1700" b="0" i="0" dirty="0">
                <a:solidFill>
                  <a:srgbClr val="404040"/>
                </a:solidFill>
              </a:rPr>
              <a:t>=2) → </a:t>
            </a:r>
            <a:r>
              <a:rPr sz="1700" b="0" i="0" dirty="0" err="1">
                <a:solidFill>
                  <a:srgbClr val="404040"/>
                </a:solidFill>
              </a:rPr>
              <a:t>el</a:t>
            </a:r>
            <a:r>
              <a:rPr sz="1700" b="0" i="0" dirty="0">
                <a:solidFill>
                  <a:srgbClr val="404040"/>
                </a:solidFill>
              </a:rPr>
              <a:t> </a:t>
            </a:r>
            <a:r>
              <a:rPr sz="1700" b="0" i="0" dirty="0" err="1">
                <a:solidFill>
                  <a:srgbClr val="404040"/>
                </a:solidFill>
              </a:rPr>
              <a:t>menor</a:t>
            </a:r>
            <a:r>
              <a:rPr sz="1700" b="0" i="0" dirty="0">
                <a:solidFill>
                  <a:srgbClr val="404040"/>
                </a:solidFill>
              </a:rPr>
              <a:t> </a:t>
            </a:r>
            <a:r>
              <a:rPr sz="1700" b="0" i="0" dirty="0" err="1">
                <a:solidFill>
                  <a:srgbClr val="404040"/>
                </a:solidFill>
              </a:rPr>
              <a:t>número</a:t>
            </a:r>
            <a:r>
              <a:rPr sz="1700" b="0" i="0" dirty="0">
                <a:solidFill>
                  <a:srgbClr val="404040"/>
                </a:solidFill>
              </a:rPr>
              <a:t> de edits entre </a:t>
            </a:r>
            <a:r>
              <a:rPr sz="1700" b="0" i="0" dirty="0" err="1">
                <a:solidFill>
                  <a:srgbClr val="404040"/>
                </a:solidFill>
              </a:rPr>
              <a:t>los</a:t>
            </a:r>
            <a:r>
              <a:rPr sz="1700" b="0" i="0" dirty="0">
                <a:solidFill>
                  <a:srgbClr val="404040"/>
                </a:solidFill>
              </a:rPr>
              <a:t> </a:t>
            </a:r>
            <a:r>
              <a:rPr sz="1700" b="0" i="0" dirty="0" err="1">
                <a:solidFill>
                  <a:srgbClr val="404040"/>
                </a:solidFill>
              </a:rPr>
              <a:t>algoritmos</a:t>
            </a:r>
            <a:r>
              <a:rPr sz="1700" b="0" i="0" dirty="0">
                <a:solidFill>
                  <a:srgbClr val="404040"/>
                </a:solidFill>
              </a:rPr>
              <a:t> </a:t>
            </a:r>
            <a:r>
              <a:rPr sz="1700" b="0" i="0" dirty="0" err="1">
                <a:solidFill>
                  <a:srgbClr val="404040"/>
                </a:solidFill>
              </a:rPr>
              <a:t>poblacionales</a:t>
            </a:r>
            <a:endParaRPr sz="1700" b="0" i="0" dirty="0">
              <a:solidFill>
                <a:srgbClr val="40404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0000" y="5989246"/>
            <a:ext cx="1188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404040"/>
                </a:solidFill>
              </a:rPr>
              <a:t>▸ Parches </a:t>
            </a:r>
            <a:r>
              <a:rPr sz="1700" b="0" i="0" dirty="0" err="1">
                <a:solidFill>
                  <a:srgbClr val="404040"/>
                </a:solidFill>
              </a:rPr>
              <a:t>más</a:t>
            </a:r>
            <a:r>
              <a:rPr sz="1700" b="0" i="0" dirty="0">
                <a:solidFill>
                  <a:srgbClr val="404040"/>
                </a:solidFill>
              </a:rPr>
              <a:t> largos (FI) → </a:t>
            </a:r>
            <a:r>
              <a:rPr sz="1700" b="0" i="0" dirty="0" err="1">
                <a:solidFill>
                  <a:srgbClr val="404040"/>
                </a:solidFill>
              </a:rPr>
              <a:t>más</a:t>
            </a:r>
            <a:r>
              <a:rPr sz="1700" b="0" i="0" dirty="0">
                <a:solidFill>
                  <a:srgbClr val="404040"/>
                </a:solidFill>
              </a:rPr>
              <a:t> </a:t>
            </a:r>
            <a:r>
              <a:rPr sz="1700" b="0" i="0" dirty="0" err="1">
                <a:solidFill>
                  <a:srgbClr val="404040"/>
                </a:solidFill>
              </a:rPr>
              <a:t>sobreajuste</a:t>
            </a:r>
            <a:r>
              <a:rPr sz="1700" b="0" i="0" dirty="0">
                <a:solidFill>
                  <a:srgbClr val="404040"/>
                </a:solidFill>
              </a:rPr>
              <a:t> (</a:t>
            </a:r>
            <a:r>
              <a:rPr sz="1700" b="0" i="0" dirty="0" err="1">
                <a:solidFill>
                  <a:srgbClr val="404040"/>
                </a:solidFill>
              </a:rPr>
              <a:t>consistente</a:t>
            </a:r>
            <a:r>
              <a:rPr sz="1700" b="0" i="0" dirty="0">
                <a:solidFill>
                  <a:srgbClr val="404040"/>
                </a:solidFill>
              </a:rPr>
              <a:t> con Petke et al., 2023)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Conclusiones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" y="6624000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Pablo Bermejo · UCLM · JISBD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79999" y="1056454"/>
            <a:ext cx="11828825" cy="1234008"/>
          </a:xfrm>
          <a:prstGeom prst="rect">
            <a:avLst/>
          </a:prstGeom>
          <a:solidFill>
            <a:srgbClr val="F2F2F2"/>
          </a:solidFill>
          <a:ln>
            <a:solidFill>
              <a:srgbClr val="378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0000" y="1056454"/>
            <a:ext cx="648000" cy="1234008"/>
          </a:xfrm>
          <a:prstGeom prst="rect">
            <a:avLst/>
          </a:prstGeom>
          <a:solidFill>
            <a:srgbClr val="378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0000" y="1380454"/>
            <a:ext cx="64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092454"/>
            <a:ext cx="1080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78644"/>
                </a:solidFill>
              </a:rPr>
              <a:t>FITNESS COMPETITIVO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000" y="1398454"/>
            <a:ext cx="1080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404040"/>
                </a:solidFill>
              </a:rPr>
              <a:t>UMDA4GI </a:t>
            </a:r>
            <a:r>
              <a:rPr sz="1800" b="0" i="0" dirty="0" err="1">
                <a:solidFill>
                  <a:srgbClr val="404040"/>
                </a:solidFill>
              </a:rPr>
              <a:t>obtiene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los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mejores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resultados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en</a:t>
            </a:r>
            <a:r>
              <a:rPr sz="1800" b="0" i="0" dirty="0">
                <a:solidFill>
                  <a:srgbClr val="404040"/>
                </a:solidFill>
              </a:rPr>
              <a:t> 2 de 4 </a:t>
            </a:r>
            <a:r>
              <a:rPr sz="1800" b="0" i="0" dirty="0" err="1">
                <a:solidFill>
                  <a:srgbClr val="404040"/>
                </a:solidFill>
              </a:rPr>
              <a:t>softwares</a:t>
            </a:r>
            <a:r>
              <a:rPr lang="es-ES" dirty="0">
                <a:solidFill>
                  <a:srgbClr val="404040"/>
                </a:solidFill>
              </a:rPr>
              <a:t> (</a:t>
            </a:r>
            <a:r>
              <a:rPr sz="1800" b="0" i="0" dirty="0">
                <a:solidFill>
                  <a:srgbClr val="404040"/>
                </a:solidFill>
              </a:rPr>
              <a:t>sat4j, </a:t>
            </a:r>
            <a:r>
              <a:rPr sz="1800" b="0" i="0" dirty="0" err="1">
                <a:solidFill>
                  <a:srgbClr val="404040"/>
                </a:solidFill>
              </a:rPr>
              <a:t>pngOptim</a:t>
            </a:r>
            <a:r>
              <a:rPr sz="1800" b="0" i="0" dirty="0">
                <a:solidFill>
                  <a:srgbClr val="404040"/>
                </a:solidFill>
              </a:rPr>
              <a:t>) y </a:t>
            </a:r>
            <a:r>
              <a:rPr sz="1800" b="0" i="0" dirty="0" err="1">
                <a:solidFill>
                  <a:srgbClr val="404040"/>
                </a:solidFill>
              </a:rPr>
              <a:t>posiciones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competitivas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en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los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otros</a:t>
            </a:r>
            <a:r>
              <a:rPr sz="1800" b="0" i="0" dirty="0">
                <a:solidFill>
                  <a:srgbClr val="404040"/>
                </a:solidFill>
              </a:rPr>
              <a:t> dos.
Es </a:t>
            </a:r>
            <a:r>
              <a:rPr sz="1800" b="0" i="0" dirty="0" err="1">
                <a:solidFill>
                  <a:srgbClr val="404040"/>
                </a:solidFill>
              </a:rPr>
              <a:t>el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único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algoritmo</a:t>
            </a:r>
            <a:r>
              <a:rPr sz="1800" b="0" i="0" dirty="0">
                <a:solidFill>
                  <a:srgbClr val="404040"/>
                </a:solidFill>
              </a:rPr>
              <a:t> con dos primeros </a:t>
            </a:r>
            <a:r>
              <a:rPr sz="1800" b="0" i="0" dirty="0" err="1">
                <a:solidFill>
                  <a:srgbClr val="404040"/>
                </a:solidFill>
              </a:rPr>
              <a:t>puestos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en</a:t>
            </a:r>
            <a:r>
              <a:rPr sz="1800" b="0" i="0" dirty="0">
                <a:solidFill>
                  <a:srgbClr val="404040"/>
                </a:solidFill>
              </a:rPr>
              <a:t> </a:t>
            </a:r>
            <a:r>
              <a:rPr sz="1800" b="0" i="0" dirty="0" err="1">
                <a:solidFill>
                  <a:srgbClr val="404040"/>
                </a:solidFill>
              </a:rPr>
              <a:t>el</a:t>
            </a:r>
            <a:r>
              <a:rPr sz="1800" b="0" i="0" dirty="0">
                <a:solidFill>
                  <a:srgbClr val="404040"/>
                </a:solidFill>
              </a:rPr>
              <a:t> ranking global.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EDF6A5B1-2787-794F-9897-386AC35C68B1}"/>
              </a:ext>
            </a:extLst>
          </p:cNvPr>
          <p:cNvGrpSpPr/>
          <p:nvPr/>
        </p:nvGrpSpPr>
        <p:grpSpPr>
          <a:xfrm>
            <a:off x="128824" y="2884029"/>
            <a:ext cx="11880000" cy="1234008"/>
            <a:chOff x="180000" y="2396303"/>
            <a:chExt cx="11880000" cy="1234008"/>
          </a:xfrm>
        </p:grpSpPr>
        <p:sp>
          <p:nvSpPr>
            <p:cNvPr id="10" name="Rectangle 9"/>
            <p:cNvSpPr/>
            <p:nvPr/>
          </p:nvSpPr>
          <p:spPr>
            <a:xfrm>
              <a:off x="180000" y="2396303"/>
              <a:ext cx="11880000" cy="1234008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2E74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000" y="2396303"/>
              <a:ext cx="648000" cy="1234008"/>
            </a:xfrm>
            <a:prstGeom prst="rect">
              <a:avLst/>
            </a:prstGeom>
            <a:solidFill>
              <a:srgbClr val="2E74B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0000" y="2720303"/>
              <a:ext cx="648000" cy="503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800" b="1" i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36000" y="2432303"/>
              <a:ext cx="10800000" cy="306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i="0">
                  <a:solidFill>
                    <a:srgbClr val="2E74B5"/>
                  </a:solidFill>
                </a:rPr>
                <a:t>MENOR SOBREAJUSTE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36000" y="2738303"/>
              <a:ext cx="10800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800" b="0" i="0" dirty="0">
                  <a:solidFill>
                    <a:srgbClr val="404040"/>
                  </a:solidFill>
                </a:rPr>
                <a:t>UMDA4GI </a:t>
              </a:r>
              <a:r>
                <a:rPr sz="1800" b="0" i="0" dirty="0" err="1">
                  <a:solidFill>
                    <a:srgbClr val="404040"/>
                  </a:solidFill>
                </a:rPr>
                <a:t>generaliza</a:t>
              </a:r>
              <a:r>
                <a:rPr sz="1800" b="0" i="0" dirty="0">
                  <a:solidFill>
                    <a:srgbClr val="404040"/>
                  </a:solidFill>
                </a:rPr>
                <a:t> </a:t>
              </a:r>
              <a:r>
                <a:rPr sz="1800" b="0" i="0" dirty="0" err="1">
                  <a:solidFill>
                    <a:srgbClr val="404040"/>
                  </a:solidFill>
                </a:rPr>
                <a:t>mejor</a:t>
              </a:r>
              <a:r>
                <a:rPr sz="1800" b="0" i="0" dirty="0">
                  <a:solidFill>
                    <a:srgbClr val="404040"/>
                  </a:solidFill>
                </a:rPr>
                <a:t> </a:t>
              </a:r>
              <a:r>
                <a:rPr sz="1800" b="0" i="0" dirty="0" err="1">
                  <a:solidFill>
                    <a:srgbClr val="404040"/>
                  </a:solidFill>
                </a:rPr>
                <a:t>que</a:t>
              </a:r>
              <a:r>
                <a:rPr sz="1800" b="0" i="0" dirty="0">
                  <a:solidFill>
                    <a:srgbClr val="404040"/>
                  </a:solidFill>
                </a:rPr>
                <a:t> FI y GP </a:t>
              </a:r>
              <a:r>
                <a:rPr sz="1800" b="0" i="0" dirty="0" err="1">
                  <a:solidFill>
                    <a:srgbClr val="404040"/>
                  </a:solidFill>
                </a:rPr>
                <a:t>en</a:t>
              </a:r>
              <a:r>
                <a:rPr sz="1800" b="0" i="0" dirty="0">
                  <a:solidFill>
                    <a:srgbClr val="404040"/>
                  </a:solidFill>
                </a:rPr>
                <a:t> 3 de 4 </a:t>
              </a:r>
              <a:r>
                <a:rPr sz="1800" b="0" i="0" dirty="0" err="1">
                  <a:solidFill>
                    <a:srgbClr val="404040"/>
                  </a:solidFill>
                </a:rPr>
                <a:t>softwares</a:t>
              </a:r>
              <a:r>
                <a:rPr sz="1800" b="0" i="0" dirty="0">
                  <a:solidFill>
                    <a:srgbClr val="404040"/>
                  </a:solidFill>
                </a:rPr>
                <a:t>.
Los parches de 2 edits </a:t>
              </a:r>
              <a:r>
                <a:rPr sz="1800" b="0" i="0" dirty="0" err="1">
                  <a:solidFill>
                    <a:srgbClr val="404040"/>
                  </a:solidFill>
                </a:rPr>
                <a:t>reducen</a:t>
              </a:r>
              <a:r>
                <a:rPr sz="1800" b="0" i="0" dirty="0">
                  <a:solidFill>
                    <a:srgbClr val="404040"/>
                  </a:solidFill>
                </a:rPr>
                <a:t> </a:t>
              </a:r>
              <a:r>
                <a:rPr sz="1800" b="0" i="0" dirty="0" err="1">
                  <a:solidFill>
                    <a:srgbClr val="404040"/>
                  </a:solidFill>
                </a:rPr>
                <a:t>el</a:t>
              </a:r>
              <a:r>
                <a:rPr sz="1800" b="0" i="0" dirty="0">
                  <a:solidFill>
                    <a:srgbClr val="404040"/>
                  </a:solidFill>
                </a:rPr>
                <a:t> overfitting al no</a:t>
              </a:r>
              <a:r>
                <a:rPr lang="es-ES" dirty="0">
                  <a:solidFill>
                    <a:srgbClr val="404040"/>
                  </a:solidFill>
                </a:rPr>
                <a:t> </a:t>
              </a:r>
              <a:r>
                <a:rPr lang="es-ES" dirty="0" err="1">
                  <a:solidFill>
                    <a:srgbClr val="404040"/>
                  </a:solidFill>
                </a:rPr>
                <a:t>sobreajustar</a:t>
              </a:r>
              <a:r>
                <a:rPr lang="es-ES" dirty="0">
                  <a:solidFill>
                    <a:srgbClr val="404040"/>
                  </a:solidFill>
                </a:rPr>
                <a:t> </a:t>
              </a:r>
              <a:r>
                <a:rPr sz="1800" b="0" i="0" dirty="0">
                  <a:solidFill>
                    <a:srgbClr val="404040"/>
                  </a:solidFill>
                </a:rPr>
                <a:t>la </a:t>
              </a:r>
              <a:r>
                <a:rPr sz="1800" b="0" i="0" dirty="0" err="1">
                  <a:solidFill>
                    <a:srgbClr val="404040"/>
                  </a:solidFill>
                </a:rPr>
                <a:t>búsqueda</a:t>
              </a:r>
              <a:r>
                <a:rPr sz="1800" b="0" i="0" dirty="0">
                  <a:solidFill>
                    <a:srgbClr val="404040"/>
                  </a:solidFill>
                </a:rPr>
                <a:t> a </a:t>
              </a:r>
              <a:r>
                <a:rPr sz="1800" b="0" i="0" dirty="0" err="1">
                  <a:solidFill>
                    <a:srgbClr val="404040"/>
                  </a:solidFill>
                </a:rPr>
                <a:t>los</a:t>
              </a:r>
              <a:r>
                <a:rPr sz="1800" b="0" i="0" dirty="0">
                  <a:solidFill>
                    <a:srgbClr val="404040"/>
                  </a:solidFill>
                </a:rPr>
                <a:t> </a:t>
              </a:r>
              <a:r>
                <a:rPr sz="1800" b="0" i="0" dirty="0" err="1">
                  <a:solidFill>
                    <a:srgbClr val="404040"/>
                  </a:solidFill>
                </a:rPr>
                <a:t>datos</a:t>
              </a:r>
              <a:r>
                <a:rPr sz="1800" b="0" i="0" dirty="0">
                  <a:solidFill>
                    <a:srgbClr val="404040"/>
                  </a:solidFill>
                </a:rPr>
                <a:t> de </a:t>
              </a:r>
              <a:r>
                <a:rPr sz="1800" b="0" i="0" dirty="0" err="1">
                  <a:solidFill>
                    <a:srgbClr val="404040"/>
                  </a:solidFill>
                </a:rPr>
                <a:t>entrenamiento</a:t>
              </a:r>
              <a:r>
                <a:rPr sz="1800" b="0" i="0" dirty="0">
                  <a:solidFill>
                    <a:srgbClr val="404040"/>
                  </a:solidFill>
                </a:rPr>
                <a:t>.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14042976-DDD7-4A23-06E9-D3D16E84CA08}"/>
              </a:ext>
            </a:extLst>
          </p:cNvPr>
          <p:cNvGrpSpPr/>
          <p:nvPr/>
        </p:nvGrpSpPr>
        <p:grpSpPr>
          <a:xfrm>
            <a:off x="128824" y="4687993"/>
            <a:ext cx="11880000" cy="1161000"/>
            <a:chOff x="128824" y="4687993"/>
            <a:chExt cx="11880000" cy="1161000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2FA74C04-8757-7341-FCE9-633FB85B97B6}"/>
                </a:ext>
              </a:extLst>
            </p:cNvPr>
            <p:cNvGrpSpPr/>
            <p:nvPr/>
          </p:nvGrpSpPr>
          <p:grpSpPr>
            <a:xfrm>
              <a:off x="128824" y="4687993"/>
              <a:ext cx="11880000" cy="1152000"/>
              <a:chOff x="180000" y="3684311"/>
              <a:chExt cx="11880000" cy="115200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80000" y="3684311"/>
                <a:ext cx="11880000" cy="1152000"/>
              </a:xfrm>
              <a:prstGeom prst="rect">
                <a:avLst/>
              </a:prstGeom>
              <a:solidFill>
                <a:srgbClr val="F2F2F2"/>
              </a:solidFill>
              <a:ln>
                <a:solidFill>
                  <a:srgbClr val="C55A1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936000" y="3720311"/>
                <a:ext cx="10800000" cy="306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2000" b="1" i="0" dirty="0">
                    <a:solidFill>
                      <a:srgbClr val="C55A11"/>
                    </a:solidFill>
                  </a:rPr>
                  <a:t>VELOCIDAD INTERMEDIA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936000" y="4026311"/>
                <a:ext cx="10800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1800" b="0" i="0" dirty="0">
                    <a:solidFill>
                      <a:srgbClr val="404040"/>
                    </a:solidFill>
                  </a:rPr>
                  <a:t>Tiempo de </a:t>
                </a:r>
                <a:r>
                  <a:rPr sz="1800" b="0" i="0" dirty="0" err="1">
                    <a:solidFill>
                      <a:srgbClr val="404040"/>
                    </a:solidFill>
                  </a:rPr>
                  <a:t>búsqueda</a:t>
                </a:r>
                <a:r>
                  <a:rPr sz="1800" b="0" i="0" dirty="0">
                    <a:solidFill>
                      <a:srgbClr val="404040"/>
                    </a:solidFill>
                  </a:rPr>
                  <a:t> similar a GP, sin </a:t>
                </a:r>
                <a:r>
                  <a:rPr lang="es-ES" sz="1800" b="0" i="0" dirty="0" err="1">
                    <a:solidFill>
                      <a:srgbClr val="404040"/>
                    </a:solidFill>
                  </a:rPr>
                  <a:t>hyper</a:t>
                </a:r>
                <a:r>
                  <a:rPr sz="1800" b="0" i="0" dirty="0" err="1">
                    <a:solidFill>
                      <a:srgbClr val="404040"/>
                    </a:solidFill>
                  </a:rPr>
                  <a:t>parámetros</a:t>
                </a:r>
                <a:r>
                  <a:rPr lang="es-ES" dirty="0">
                    <a:solidFill>
                      <a:srgbClr val="404040"/>
                    </a:solidFill>
                  </a:rPr>
                  <a:t> de</a:t>
                </a:r>
                <a:r>
                  <a:rPr sz="1800" b="0" i="0" dirty="0">
                    <a:solidFill>
                      <a:srgbClr val="404040"/>
                    </a:solidFill>
                  </a:rPr>
                  <a:t> </a:t>
                </a:r>
                <a:r>
                  <a:rPr sz="1800" b="0" i="0" dirty="0" err="1">
                    <a:solidFill>
                      <a:srgbClr val="404040"/>
                    </a:solidFill>
                  </a:rPr>
                  <a:t>cruce</a:t>
                </a:r>
                <a:r>
                  <a:rPr sz="1800" b="0" i="0" dirty="0">
                    <a:solidFill>
                      <a:srgbClr val="404040"/>
                    </a:solidFill>
                  </a:rPr>
                  <a:t>/</a:t>
                </a:r>
                <a:r>
                  <a:rPr sz="1800" b="0" i="0" dirty="0" err="1">
                    <a:solidFill>
                      <a:srgbClr val="404040"/>
                    </a:solidFill>
                  </a:rPr>
                  <a:t>mutación</a:t>
                </a:r>
                <a:r>
                  <a:rPr lang="es-ES" sz="1800" b="0" i="0" dirty="0">
                    <a:solidFill>
                      <a:srgbClr val="404040"/>
                    </a:solidFill>
                  </a:rPr>
                  <a:t>:</a:t>
                </a:r>
                <a:r>
                  <a:rPr sz="1800" b="0" i="0" dirty="0">
                    <a:solidFill>
                      <a:srgbClr val="404040"/>
                    </a:solidFill>
                  </a:rPr>
                  <a:t> </a:t>
                </a:r>
                <a:r>
                  <a:rPr sz="1800" b="0" i="0" dirty="0" err="1">
                    <a:solidFill>
                      <a:srgbClr val="404040"/>
                    </a:solidFill>
                  </a:rPr>
                  <a:t>Fácil</a:t>
                </a:r>
                <a:r>
                  <a:rPr sz="1800" b="0" i="0" dirty="0">
                    <a:solidFill>
                      <a:srgbClr val="404040"/>
                    </a:solidFill>
                  </a:rPr>
                  <a:t> de </a:t>
                </a:r>
                <a:r>
                  <a:rPr sz="1800" b="0" i="0" dirty="0" err="1">
                    <a:solidFill>
                      <a:srgbClr val="404040"/>
                    </a:solidFill>
                  </a:rPr>
                  <a:t>configurar</a:t>
                </a:r>
                <a:r>
                  <a:rPr sz="1800" b="0" i="0" dirty="0">
                    <a:solidFill>
                      <a:srgbClr val="404040"/>
                    </a:solidFill>
                  </a:rPr>
                  <a:t> y </a:t>
                </a:r>
                <a:r>
                  <a:rPr sz="1800" b="0" i="0" dirty="0" err="1">
                    <a:solidFill>
                      <a:srgbClr val="404040"/>
                    </a:solidFill>
                  </a:rPr>
                  <a:t>reproducir</a:t>
                </a:r>
                <a:r>
                  <a:rPr sz="1800" b="0" i="0" dirty="0">
                    <a:solidFill>
                      <a:srgbClr val="404040"/>
                    </a:solidFill>
                  </a:rPr>
                  <a:t>.</a:t>
                </a:r>
              </a:p>
            </p:txBody>
          </p:sp>
        </p:grpSp>
        <p:sp>
          <p:nvSpPr>
            <p:cNvPr id="16" name="Rectangle 15"/>
            <p:cNvSpPr/>
            <p:nvPr/>
          </p:nvSpPr>
          <p:spPr>
            <a:xfrm>
              <a:off x="180000" y="4696993"/>
              <a:ext cx="648000" cy="1152000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80000" y="5020993"/>
              <a:ext cx="648000" cy="503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800" b="1" i="0">
                  <a:solidFill>
                    <a:srgbClr val="FFFFFF"/>
                  </a:solidFill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9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72000"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Trabajo futuro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606001"/>
            <a:ext cx="12188952" cy="251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000" y="6624000"/>
            <a:ext cx="1146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Pablo Bermejo · UCLM · JISBD 2026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82E2A15B-B531-4FCD-D793-57FC65D322FE}"/>
              </a:ext>
            </a:extLst>
          </p:cNvPr>
          <p:cNvGrpSpPr/>
          <p:nvPr/>
        </p:nvGrpSpPr>
        <p:grpSpPr>
          <a:xfrm>
            <a:off x="180000" y="1018947"/>
            <a:ext cx="11880000" cy="936000"/>
            <a:chOff x="288000" y="900000"/>
            <a:chExt cx="11880000" cy="936000"/>
          </a:xfrm>
        </p:grpSpPr>
        <p:sp>
          <p:nvSpPr>
            <p:cNvPr id="5" name="Rectangle 4"/>
            <p:cNvSpPr/>
            <p:nvPr/>
          </p:nvSpPr>
          <p:spPr>
            <a:xfrm>
              <a:off x="288000" y="900000"/>
              <a:ext cx="11880000" cy="9360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1F386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32000" y="936000"/>
              <a:ext cx="11520000" cy="28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900" b="1" i="0">
                  <a:solidFill>
                    <a:srgbClr val="1F3864"/>
                  </a:solidFill>
                </a:rPr>
                <a:t>→ Filtrado de Psel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40000" y="1224000"/>
              <a:ext cx="11520000" cy="54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0" i="0">
                  <a:solidFill>
                    <a:srgbClr val="404040"/>
                  </a:solidFill>
                </a:rPr>
                <a:t>Aprender la distribución solo sobre variantes que mejoran el fitness
(no sobre todas las válidas) → ¿distribución de mejora más pura?</a:t>
              </a:r>
            </a:p>
          </p:txBody>
        </p: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CA185330-2216-5E48-4078-C6EDC11E9033}"/>
              </a:ext>
            </a:extLst>
          </p:cNvPr>
          <p:cNvGrpSpPr/>
          <p:nvPr/>
        </p:nvGrpSpPr>
        <p:grpSpPr>
          <a:xfrm>
            <a:off x="180000" y="2181894"/>
            <a:ext cx="11880000" cy="1242004"/>
            <a:chOff x="288000" y="1907999"/>
            <a:chExt cx="11880000" cy="1242004"/>
          </a:xfrm>
        </p:grpSpPr>
        <p:sp>
          <p:nvSpPr>
            <p:cNvPr id="8" name="Rectangle 7"/>
            <p:cNvSpPr/>
            <p:nvPr/>
          </p:nvSpPr>
          <p:spPr>
            <a:xfrm>
              <a:off x="288000" y="1907999"/>
              <a:ext cx="11880000" cy="1242004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C55A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2000" y="1943999"/>
              <a:ext cx="11520000" cy="28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900" b="1" i="0">
                  <a:solidFill>
                    <a:srgbClr val="C55A11"/>
                  </a:solidFill>
                </a:rPr>
                <a:t>🔬 LLMs como operadores (en progreso)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40000" y="2231999"/>
              <a:ext cx="11520000" cy="54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0" i="0">
                  <a:solidFill>
                    <a:srgbClr val="404040"/>
                  </a:solidFill>
                </a:rPr>
                <a:t>Usar modelos de lenguaje para generar edits semánticamente informados.
UMDA4GI + LLM (UMDA4GI): LLM aprende de las mejores variantes → genera
los edits de la siguiente generación guiándose por el código y el historial.</a:t>
              </a: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1B88D385-97AE-64E4-1B2D-D86E04B24B93}"/>
              </a:ext>
            </a:extLst>
          </p:cNvPr>
          <p:cNvGrpSpPr/>
          <p:nvPr/>
        </p:nvGrpSpPr>
        <p:grpSpPr>
          <a:xfrm>
            <a:off x="180000" y="3711898"/>
            <a:ext cx="11880000" cy="936000"/>
            <a:chOff x="180000" y="3618002"/>
            <a:chExt cx="11880000" cy="936000"/>
          </a:xfrm>
        </p:grpSpPr>
        <p:sp>
          <p:nvSpPr>
            <p:cNvPr id="11" name="Rectangle 10"/>
            <p:cNvSpPr/>
            <p:nvPr/>
          </p:nvSpPr>
          <p:spPr>
            <a:xfrm>
              <a:off x="180000" y="3618002"/>
              <a:ext cx="11880000" cy="936000"/>
            </a:xfrm>
            <a:prstGeom prst="rect">
              <a:avLst/>
            </a:prstGeom>
            <a:solidFill>
              <a:srgbClr val="F2F2F2"/>
            </a:solidFill>
            <a:ln>
              <a:solidFill>
                <a:srgbClr val="C55A1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4000" y="3654002"/>
              <a:ext cx="11520000" cy="28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900" b="1" i="0" dirty="0">
                  <a:solidFill>
                    <a:srgbClr val="C55A11"/>
                  </a:solidFill>
                </a:rPr>
                <a:t>🔬 LLM puro </a:t>
              </a:r>
              <a:r>
                <a:rPr sz="1900" b="1" i="0" dirty="0" err="1">
                  <a:solidFill>
                    <a:srgbClr val="C55A11"/>
                  </a:solidFill>
                </a:rPr>
                <a:t>como</a:t>
              </a:r>
              <a:r>
                <a:rPr sz="1900" b="1" i="0" dirty="0">
                  <a:solidFill>
                    <a:srgbClr val="C55A11"/>
                  </a:solidFill>
                </a:rPr>
                <a:t> baseline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32000" y="3942002"/>
              <a:ext cx="11520000" cy="54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700" b="0" i="0" dirty="0">
                  <a:solidFill>
                    <a:srgbClr val="404040"/>
                  </a:solidFill>
                </a:rPr>
                <a:t>¿</a:t>
              </a:r>
              <a:r>
                <a:rPr sz="1700" b="0" i="0" dirty="0" err="1">
                  <a:solidFill>
                    <a:srgbClr val="404040"/>
                  </a:solidFill>
                </a:rPr>
                <a:t>Puede</a:t>
              </a:r>
              <a:r>
                <a:rPr sz="1700" b="0" i="0" dirty="0">
                  <a:solidFill>
                    <a:srgbClr val="404040"/>
                  </a:solidFill>
                </a:rPr>
                <a:t> un LLM solo (sin EDA) </a:t>
              </a:r>
              <a:r>
                <a:rPr sz="1700" b="0" i="0" dirty="0" err="1">
                  <a:solidFill>
                    <a:srgbClr val="404040"/>
                  </a:solidFill>
                </a:rPr>
                <a:t>mejorar</a:t>
              </a:r>
              <a:r>
                <a:rPr sz="1700" b="0" i="0" dirty="0">
                  <a:solidFill>
                    <a:srgbClr val="404040"/>
                  </a:solidFill>
                </a:rPr>
                <a:t> </a:t>
              </a:r>
              <a:r>
                <a:rPr sz="1700" b="0" i="0" dirty="0" err="1">
                  <a:solidFill>
                    <a:srgbClr val="404040"/>
                  </a:solidFill>
                </a:rPr>
                <a:t>el</a:t>
              </a:r>
              <a:r>
                <a:rPr sz="1700" b="0" i="0" dirty="0">
                  <a:solidFill>
                    <a:srgbClr val="404040"/>
                  </a:solidFill>
                </a:rPr>
                <a:t> software?
</a:t>
              </a:r>
              <a:r>
                <a:rPr sz="1700" b="0" i="0" dirty="0" err="1">
                  <a:solidFill>
                    <a:srgbClr val="404040"/>
                  </a:solidFill>
                </a:rPr>
                <a:t>Experimentos</a:t>
              </a:r>
              <a:r>
                <a:rPr sz="1700" b="0" i="0" dirty="0">
                  <a:solidFill>
                    <a:srgbClr val="404040"/>
                  </a:solidFill>
                </a:rPr>
                <a:t> </a:t>
              </a:r>
              <a:r>
                <a:rPr sz="1700" b="0" i="0" dirty="0" err="1">
                  <a:solidFill>
                    <a:srgbClr val="404040"/>
                  </a:solidFill>
                </a:rPr>
                <a:t>en</a:t>
              </a:r>
              <a:r>
                <a:rPr sz="1700" b="0" i="0" dirty="0">
                  <a:solidFill>
                    <a:srgbClr val="404040"/>
                  </a:solidFill>
                </a:rPr>
                <a:t> </a:t>
              </a:r>
              <a:r>
                <a:rPr sz="1700" b="0" i="0" dirty="0" err="1">
                  <a:solidFill>
                    <a:srgbClr val="404040"/>
                  </a:solidFill>
                </a:rPr>
                <a:t>ejecución</a:t>
              </a:r>
              <a:r>
                <a:rPr sz="1700" b="0" i="0" dirty="0">
                  <a:solidFill>
                    <a:srgbClr val="404040"/>
                  </a:solidFill>
                </a:rPr>
                <a:t> </a:t>
              </a:r>
              <a:r>
                <a:rPr sz="1700" b="0" i="0" dirty="0" err="1">
                  <a:solidFill>
                    <a:srgbClr val="404040"/>
                  </a:solidFill>
                </a:rPr>
                <a:t>actualmente</a:t>
              </a:r>
              <a:r>
                <a:rPr sz="1700" b="0" i="0" dirty="0">
                  <a:solidFill>
                    <a:srgbClr val="404040"/>
                  </a:solidFill>
                </a:rPr>
                <a:t> para </a:t>
              </a:r>
              <a:r>
                <a:rPr sz="1700" b="0" i="0" dirty="0" err="1">
                  <a:solidFill>
                    <a:srgbClr val="404040"/>
                  </a:solidFill>
                </a:rPr>
                <a:t>aislar</a:t>
              </a:r>
              <a:r>
                <a:rPr sz="1700" b="0" i="0" dirty="0">
                  <a:solidFill>
                    <a:srgbClr val="404040"/>
                  </a:solidFill>
                </a:rPr>
                <a:t> la </a:t>
              </a:r>
              <a:r>
                <a:rPr sz="1700" b="0" i="0" dirty="0" err="1">
                  <a:solidFill>
                    <a:srgbClr val="404040"/>
                  </a:solidFill>
                </a:rPr>
                <a:t>contribución</a:t>
              </a:r>
              <a:r>
                <a:rPr sz="1700" b="0" i="0" dirty="0">
                  <a:solidFill>
                    <a:srgbClr val="404040"/>
                  </a:solidFill>
                </a:rPr>
                <a:t> del LLM.</a:t>
              </a:r>
            </a:p>
          </p:txBody>
        </p:sp>
      </p:grpSp>
      <p:sp>
        <p:nvSpPr>
          <p:cNvPr id="14" name="Rectangle 13"/>
          <p:cNvSpPr/>
          <p:nvPr/>
        </p:nvSpPr>
        <p:spPr>
          <a:xfrm>
            <a:off x="180000" y="4979376"/>
            <a:ext cx="11880000" cy="936000"/>
          </a:xfrm>
          <a:prstGeom prst="rect">
            <a:avLst/>
          </a:prstGeom>
          <a:solidFill>
            <a:srgbClr val="F2F2F2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5022000"/>
            <a:ext cx="11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 dirty="0">
                <a:solidFill>
                  <a:srgbClr val="1F3864"/>
                </a:solidFill>
              </a:rPr>
              <a:t>→ </a:t>
            </a:r>
            <a:r>
              <a:rPr sz="1900" b="1" i="0" dirty="0" err="1">
                <a:solidFill>
                  <a:srgbClr val="1F3864"/>
                </a:solidFill>
              </a:rPr>
              <a:t>Análisis</a:t>
            </a:r>
            <a:r>
              <a:rPr sz="1900" b="1" i="0" dirty="0">
                <a:solidFill>
                  <a:srgbClr val="1F3864"/>
                </a:solidFill>
              </a:rPr>
              <a:t> </a:t>
            </a:r>
            <a:r>
              <a:rPr sz="1900" b="1" i="0" dirty="0" err="1">
                <a:solidFill>
                  <a:srgbClr val="1F3864"/>
                </a:solidFill>
              </a:rPr>
              <a:t>semántico</a:t>
            </a:r>
            <a:r>
              <a:rPr sz="1900" b="1" i="0" dirty="0">
                <a:solidFill>
                  <a:srgbClr val="1F3864"/>
                </a:solidFill>
              </a:rPr>
              <a:t> de la </a:t>
            </a:r>
            <a:r>
              <a:rPr sz="1900" b="1" i="0" dirty="0" err="1">
                <a:solidFill>
                  <a:srgbClr val="1F3864"/>
                </a:solidFill>
              </a:rPr>
              <a:t>distribución</a:t>
            </a:r>
            <a:endParaRPr sz="1900" b="1" i="0" dirty="0">
              <a:solidFill>
                <a:srgbClr val="1F3864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0000" y="5310000"/>
            <a:ext cx="11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 dirty="0">
                <a:solidFill>
                  <a:srgbClr val="404040"/>
                </a:solidFill>
              </a:rPr>
              <a:t>¿</a:t>
            </a:r>
            <a:r>
              <a:rPr sz="1700" b="0" i="0" dirty="0" err="1">
                <a:solidFill>
                  <a:srgbClr val="404040"/>
                </a:solidFill>
              </a:rPr>
              <a:t>Qué</a:t>
            </a:r>
            <a:r>
              <a:rPr sz="1700" b="0" i="0" dirty="0">
                <a:solidFill>
                  <a:srgbClr val="404040"/>
                </a:solidFill>
              </a:rPr>
              <a:t> </a:t>
            </a:r>
            <a:r>
              <a:rPr sz="1700" b="0" i="0" dirty="0" err="1">
                <a:solidFill>
                  <a:srgbClr val="404040"/>
                </a:solidFill>
              </a:rPr>
              <a:t>aprende</a:t>
            </a:r>
            <a:r>
              <a:rPr sz="1700" b="0" i="0" dirty="0">
                <a:solidFill>
                  <a:srgbClr val="404040"/>
                </a:solidFill>
              </a:rPr>
              <a:t> UMDA </a:t>
            </a:r>
            <a:r>
              <a:rPr sz="1700" b="0" i="0" dirty="0" err="1">
                <a:solidFill>
                  <a:srgbClr val="404040"/>
                </a:solidFill>
              </a:rPr>
              <a:t>sobre</a:t>
            </a:r>
            <a:r>
              <a:rPr sz="1700" b="0" i="0" dirty="0">
                <a:solidFill>
                  <a:srgbClr val="404040"/>
                </a:solidFill>
              </a:rPr>
              <a:t> </a:t>
            </a:r>
            <a:r>
              <a:rPr sz="1700" b="0" i="0" dirty="0" err="1">
                <a:solidFill>
                  <a:srgbClr val="404040"/>
                </a:solidFill>
              </a:rPr>
              <a:t>el</a:t>
            </a:r>
            <a:r>
              <a:rPr sz="1700" b="0" i="0" dirty="0">
                <a:solidFill>
                  <a:srgbClr val="404040"/>
                </a:solidFill>
              </a:rPr>
              <a:t> </a:t>
            </a:r>
            <a:r>
              <a:rPr sz="1700" b="0" i="0" dirty="0" err="1">
                <a:solidFill>
                  <a:srgbClr val="404040"/>
                </a:solidFill>
              </a:rPr>
              <a:t>código</a:t>
            </a:r>
            <a:r>
              <a:rPr sz="1700" b="0" i="0" dirty="0">
                <a:solidFill>
                  <a:srgbClr val="404040"/>
                </a:solidFill>
              </a:rPr>
              <a:t>? ¿Hay edits </a:t>
            </a:r>
            <a:r>
              <a:rPr sz="1700" b="0" i="0" dirty="0" err="1">
                <a:solidFill>
                  <a:srgbClr val="404040"/>
                </a:solidFill>
              </a:rPr>
              <a:t>recurrentes</a:t>
            </a:r>
            <a:r>
              <a:rPr sz="1700" b="0" i="0" dirty="0">
                <a:solidFill>
                  <a:srgbClr val="404040"/>
                </a:solidFill>
              </a:rPr>
              <a:t> con </a:t>
            </a:r>
            <a:r>
              <a:rPr sz="1700" b="0" i="0" dirty="0" err="1">
                <a:solidFill>
                  <a:srgbClr val="404040"/>
                </a:solidFill>
              </a:rPr>
              <a:t>significado</a:t>
            </a:r>
            <a:r>
              <a:rPr sz="1700" b="0" i="0" dirty="0">
                <a:solidFill>
                  <a:srgbClr val="404040"/>
                </a:solidFill>
              </a:rPr>
              <a:t>?
</a:t>
            </a:r>
            <a:r>
              <a:rPr sz="1700" b="0" i="0" dirty="0" err="1">
                <a:solidFill>
                  <a:srgbClr val="404040"/>
                </a:solidFill>
              </a:rPr>
              <a:t>Interpretabilidad</a:t>
            </a:r>
            <a:r>
              <a:rPr sz="1700" b="0" i="0" dirty="0">
                <a:solidFill>
                  <a:srgbClr val="404040"/>
                </a:solidFill>
              </a:rPr>
              <a:t> del </a:t>
            </a:r>
            <a:r>
              <a:rPr sz="1700" b="0" i="0" dirty="0" err="1">
                <a:solidFill>
                  <a:srgbClr val="404040"/>
                </a:solidFill>
              </a:rPr>
              <a:t>modelo</a:t>
            </a:r>
            <a:r>
              <a:rPr sz="1700" b="0" i="0" dirty="0">
                <a:solidFill>
                  <a:srgbClr val="404040"/>
                </a:solidFill>
              </a:rPr>
              <a:t> </a:t>
            </a:r>
            <a:r>
              <a:rPr sz="1700" b="0" i="0" dirty="0" err="1">
                <a:solidFill>
                  <a:srgbClr val="404040"/>
                </a:solidFill>
              </a:rPr>
              <a:t>probabilístico</a:t>
            </a:r>
            <a:r>
              <a:rPr sz="1700" b="0" i="0" dirty="0">
                <a:solidFill>
                  <a:srgbClr val="404040"/>
                </a:solidFill>
              </a:rPr>
              <a:t> </a:t>
            </a:r>
            <a:r>
              <a:rPr sz="1700" b="0" i="0" dirty="0" err="1">
                <a:solidFill>
                  <a:srgbClr val="404040"/>
                </a:solidFill>
              </a:rPr>
              <a:t>aprendido</a:t>
            </a:r>
            <a:r>
              <a:rPr sz="1700" b="0" i="0" dirty="0">
                <a:solidFill>
                  <a:srgbClr val="40404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80000"/>
            <a:ext cx="12188952" cy="9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11108952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¡Gracias!  /  ¿Preguntas?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29128" y="3029831"/>
            <a:ext cx="3960000" cy="90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8000" y="3155831"/>
            <a:ext cx="37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000"/>
                </a:solidFill>
              </a:rPr>
              <a:t>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3443831"/>
            <a:ext cx="374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pablo.bermejo@uclm.es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674564" y="2993831"/>
            <a:ext cx="3960000" cy="90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90564" y="2990375"/>
            <a:ext cx="37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C000"/>
                </a:solidFill>
              </a:rPr>
              <a:t>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2564" y="3317831"/>
            <a:ext cx="374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FFFFFF"/>
                </a:solidFill>
              </a:rPr>
              <a:t>github.com/</a:t>
            </a:r>
            <a:r>
              <a:rPr sz="1600" b="0" i="0" dirty="0" err="1">
                <a:solidFill>
                  <a:srgbClr val="FFFFFF"/>
                </a:solidFill>
              </a:rPr>
              <a:t>paberlo</a:t>
            </a:r>
            <a:r>
              <a:rPr sz="1600" b="0" i="0" dirty="0">
                <a:solidFill>
                  <a:srgbClr val="FFFFFF"/>
                </a:solidFill>
              </a:rPr>
              <a:t>/magpie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42564" y="2983102"/>
            <a:ext cx="3345804" cy="90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34564" y="3008373"/>
            <a:ext cx="3744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FFC000"/>
                </a:solidFill>
              </a:rPr>
              <a:t>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4564" y="3298102"/>
            <a:ext cx="3744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FFFFFF"/>
                </a:solidFill>
              </a:rPr>
              <a:t>zenodo.org/records/19469242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128" y="4253831"/>
            <a:ext cx="11108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 dirty="0">
                <a:solidFill>
                  <a:srgbClr val="FFC000"/>
                </a:solidFill>
              </a:rPr>
              <a:t>UMDA </a:t>
            </a:r>
            <a:r>
              <a:rPr sz="2000" b="0" i="1" dirty="0" err="1">
                <a:solidFill>
                  <a:srgbClr val="FFC000"/>
                </a:solidFill>
              </a:rPr>
              <a:t>aplicado</a:t>
            </a:r>
            <a:r>
              <a:rPr sz="2000" b="0" i="1" dirty="0">
                <a:solidFill>
                  <a:srgbClr val="FFC000"/>
                </a:solidFill>
              </a:rPr>
              <a:t> a la </a:t>
            </a:r>
            <a:r>
              <a:rPr sz="2000" b="0" i="1" dirty="0" err="1">
                <a:solidFill>
                  <a:srgbClr val="FFC000"/>
                </a:solidFill>
              </a:rPr>
              <a:t>Mejora</a:t>
            </a:r>
            <a:r>
              <a:rPr sz="2000" b="0" i="1" dirty="0">
                <a:solidFill>
                  <a:srgbClr val="FFC000"/>
                </a:solidFill>
              </a:rPr>
              <a:t> </a:t>
            </a:r>
            <a:r>
              <a:rPr sz="2000" b="0" i="1" dirty="0" err="1">
                <a:solidFill>
                  <a:srgbClr val="FFC000"/>
                </a:solidFill>
              </a:rPr>
              <a:t>Automática</a:t>
            </a:r>
            <a:r>
              <a:rPr sz="2000" b="0" i="1" dirty="0">
                <a:solidFill>
                  <a:srgbClr val="FFC000"/>
                </a:solidFill>
              </a:rPr>
              <a:t> del Software  ·  JISBD 2026  ·  Alicante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1883</Words>
  <Application>Microsoft Office PowerPoint</Application>
  <PresentationFormat>Personalizado</PresentationFormat>
  <Paragraphs>285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Aptos</vt:lpstr>
      <vt:lpstr>Arabic Typesetting</vt:lpstr>
      <vt:lpstr>Arial</vt:lpstr>
      <vt:lpstr>Calibri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Pablo Bermejo López</cp:lastModifiedBy>
  <cp:revision>23</cp:revision>
  <dcterms:created xsi:type="dcterms:W3CDTF">2013-01-27T09:14:16Z</dcterms:created>
  <dcterms:modified xsi:type="dcterms:W3CDTF">2026-06-01T09:55:50Z</dcterms:modified>
  <cp:category/>
</cp:coreProperties>
</file>