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5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487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8C1D18"/>
                </a:solidFill>
              </a:defRPr>
            </a:pPr>
            <a:r>
              <a:rPr dirty="0"/>
              <a:t>Research Questions — Summary</a:t>
            </a:r>
          </a:p>
          <a:p>
            <a:pPr algn="ctr">
              <a:defRPr sz="2000" i="1">
                <a:solidFill>
                  <a:srgbClr val="333333"/>
                </a:solidFill>
              </a:defRPr>
            </a:pPr>
            <a:r>
              <a:rPr dirty="0"/>
              <a:t>Planning for </a:t>
            </a:r>
            <a:r>
              <a:rPr lang="es-ES" dirty="0"/>
              <a:t>ASE </a:t>
            </a:r>
            <a:r>
              <a:rPr lang="es-ES" dirty="0" err="1"/>
              <a:t>special</a:t>
            </a:r>
            <a:r>
              <a:rPr lang="es-ES" dirty="0"/>
              <a:t> </a:t>
            </a:r>
            <a:r>
              <a:rPr lang="es-ES" dirty="0" err="1"/>
              <a:t>issue</a:t>
            </a:r>
            <a:r>
              <a:rPr lang="en-US" dirty="0"/>
              <a:t> </a:t>
            </a:r>
          </a:p>
          <a:p>
            <a:pPr algn="ctr">
              <a:spcBef>
                <a:spcPts val="2000"/>
              </a:spcBef>
              <a:defRPr sz="1400">
                <a:solidFill>
                  <a:srgbClr val="666666"/>
                </a:solidFill>
              </a:defRPr>
            </a:pPr>
            <a:r>
              <a:rPr lang="en-US" dirty="0"/>
              <a:t>Data: Perf&lt;Cycles&gt;, 4 target programs, 5-fold CV, budgets {100,250,500,750,1000}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C1D18"/>
                </a:solidFill>
              </a:defRPr>
            </a:pPr>
            <a:r>
              <a:t>RQ1 — Is UMDA4GI competitive with state-of-the-art GI?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7295" cy="31750"/>
          </a:xfrm>
          <a:prstGeom prst="rect">
            <a:avLst/>
          </a:prstGeom>
          <a:solidFill>
            <a:srgbClr val="B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7295" cy="6400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C8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600" b="1">
                <a:solidFill>
                  <a:srgbClr val="B82A2A"/>
                </a:solidFill>
              </a:defRPr>
            </a:pPr>
            <a:r>
              <a:t>Answer: YES. FI leads globally, but UMDA4GI is 2nd, the most consistent, and the fastest algorithm.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11680"/>
          <a:ext cx="6949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27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MiniSAT-hack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OptimPNG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Sat4J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Weka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Sum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Top-2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UMDA4GI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RandomSearch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2103120"/>
            <a:ext cx="411480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8C1D18"/>
                </a:solidFill>
              </a:defRPr>
            </a:pPr>
            <a:r>
              <a:rPr dirty="0"/>
              <a:t>Reading the table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rPr dirty="0"/>
              <a:t>•  Ranking = sum of per-software ranks (1 = best); lower is better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rPr dirty="0"/>
              <a:t>•  UMDA4GI: best trade-off — never worse than rank 3, wins/ties in 3/4 programs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73ED4BE3-CA38-5D98-41CF-1D7D653F44D7}"/>
              </a:ext>
            </a:extLst>
          </p:cNvPr>
          <p:cNvSpPr txBox="1"/>
          <p:nvPr/>
        </p:nvSpPr>
        <p:spPr>
          <a:xfrm>
            <a:off x="7589520" y="4587150"/>
            <a:ext cx="2496312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rPr lang="es-ES" dirty="0"/>
              <a:t>•  Also </a:t>
            </a:r>
            <a:r>
              <a:rPr lang="es-ES" dirty="0" err="1"/>
              <a:t>best</a:t>
            </a:r>
            <a:r>
              <a:rPr lang="es-ES" dirty="0"/>
              <a:t> in </a:t>
            </a:r>
            <a:r>
              <a:rPr lang="es-ES" dirty="0" err="1"/>
              <a:t>search</a:t>
            </a:r>
            <a:r>
              <a:rPr lang="es-ES" dirty="0"/>
              <a:t> time.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endParaRPr lang="es-ES" dirty="0"/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r>
              <a:rPr lang="es-ES" i="1" dirty="0"/>
              <a:t>Justyna, </a:t>
            </a:r>
            <a:r>
              <a:rPr lang="es-ES" i="1" dirty="0" err="1"/>
              <a:t>please</a:t>
            </a:r>
            <a:r>
              <a:rPr lang="es-ES" i="1" dirty="0"/>
              <a:t> note </a:t>
            </a:r>
            <a:r>
              <a:rPr lang="es-ES" i="1" dirty="0" err="1"/>
              <a:t>that</a:t>
            </a:r>
            <a:r>
              <a:rPr lang="es-ES" i="1" dirty="0"/>
              <a:t> </a:t>
            </a:r>
            <a:r>
              <a:rPr lang="es-ES" i="1" dirty="0" err="1"/>
              <a:t>here</a:t>
            </a:r>
            <a:r>
              <a:rPr lang="es-ES" i="1" dirty="0"/>
              <a:t> I am </a:t>
            </a:r>
            <a:r>
              <a:rPr lang="es-ES" i="1" dirty="0" err="1"/>
              <a:t>only</a:t>
            </a:r>
            <a:r>
              <a:rPr lang="es-ES" i="1" dirty="0"/>
              <a:t> </a:t>
            </a:r>
            <a:r>
              <a:rPr lang="es-ES" i="1" dirty="0" err="1"/>
              <a:t>displaying</a:t>
            </a:r>
            <a:r>
              <a:rPr lang="es-ES" i="1" dirty="0"/>
              <a:t> rankings, in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journal</a:t>
            </a:r>
            <a:r>
              <a:rPr lang="es-ES" i="1" dirty="0"/>
              <a:t> I </a:t>
            </a:r>
            <a:r>
              <a:rPr lang="es-ES" i="1" dirty="0" err="1"/>
              <a:t>would</a:t>
            </a:r>
            <a:r>
              <a:rPr lang="es-ES" i="1" dirty="0"/>
              <a:t> </a:t>
            </a:r>
            <a:r>
              <a:rPr lang="es-ES" i="1" dirty="0" err="1"/>
              <a:t>insert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tables </a:t>
            </a:r>
            <a:r>
              <a:rPr lang="es-ES" i="1" dirty="0" err="1"/>
              <a:t>with</a:t>
            </a:r>
            <a:r>
              <a:rPr lang="es-ES" i="1" dirty="0"/>
              <a:t> </a:t>
            </a:r>
            <a:r>
              <a:rPr lang="es-ES" i="1" dirty="0" err="1"/>
              <a:t>all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tabbed</a:t>
            </a:r>
            <a:r>
              <a:rPr lang="es-ES" i="1" dirty="0"/>
              <a:t> </a:t>
            </a:r>
            <a:r>
              <a:rPr lang="es-ES" i="1" dirty="0" err="1"/>
              <a:t>results</a:t>
            </a:r>
            <a:r>
              <a:rPr lang="es-ES" i="1" dirty="0"/>
              <a:t>.</a:t>
            </a:r>
          </a:p>
          <a:p>
            <a:pPr>
              <a:spcAft>
                <a:spcPts val="600"/>
              </a:spcAft>
              <a:defRPr sz="1400" b="0">
                <a:solidFill>
                  <a:srgbClr val="333333"/>
                </a:solidFill>
              </a:defRPr>
            </a:pPr>
            <a:endParaRPr lang="es-ES" dirty="0"/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20450A6F-A732-35F0-7370-41C2D9931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973" y="4251960"/>
            <a:ext cx="4029637" cy="198147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C1D18"/>
                </a:solidFill>
              </a:defRPr>
            </a:pPr>
            <a:r>
              <a:rPr dirty="0"/>
              <a:t>RQ1</a:t>
            </a:r>
            <a:r>
              <a:rPr lang="es-ES" dirty="0"/>
              <a:t> </a:t>
            </a:r>
            <a:r>
              <a:rPr lang="es-ES" dirty="0" err="1"/>
              <a:t>details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7295" cy="31750"/>
          </a:xfrm>
          <a:prstGeom prst="rect">
            <a:avLst/>
          </a:prstGeom>
          <a:solidFill>
            <a:srgbClr val="B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EF8AA14-7F75-1EAD-B494-E9AEA7C31024}"/>
              </a:ext>
            </a:extLst>
          </p:cNvPr>
          <p:cNvSpPr txBox="1"/>
          <p:nvPr/>
        </p:nvSpPr>
        <p:spPr>
          <a:xfrm>
            <a:off x="457199" y="1538528"/>
            <a:ext cx="11277295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lang="es-ES" dirty="0"/>
              <a:t>UMDA4GI </a:t>
            </a:r>
            <a:r>
              <a:rPr lang="es-ES" dirty="0" err="1"/>
              <a:t>achieves</a:t>
            </a:r>
            <a:r>
              <a:rPr lang="es-ES" dirty="0"/>
              <a:t> competitive </a:t>
            </a:r>
            <a:r>
              <a:rPr lang="es-ES" dirty="0" err="1"/>
              <a:t>results</a:t>
            </a:r>
            <a:r>
              <a:rPr lang="es-ES" dirty="0"/>
              <a:t> </a:t>
            </a:r>
            <a:r>
              <a:rPr lang="es-ES" dirty="0" err="1"/>
              <a:t>against</a:t>
            </a:r>
            <a:r>
              <a:rPr lang="es-ES" dirty="0"/>
              <a:t> </a:t>
            </a:r>
            <a:r>
              <a:rPr lang="es-ES" dirty="0" err="1"/>
              <a:t>state</a:t>
            </a:r>
            <a:r>
              <a:rPr lang="es-ES" dirty="0"/>
              <a:t>-</a:t>
            </a:r>
            <a:r>
              <a:rPr lang="es-ES" dirty="0" err="1"/>
              <a:t>of</a:t>
            </a:r>
            <a:r>
              <a:rPr lang="es-ES" dirty="0"/>
              <a:t>-</a:t>
            </a:r>
            <a:r>
              <a:rPr lang="es-ES" dirty="0" err="1"/>
              <a:t>the</a:t>
            </a:r>
            <a:r>
              <a:rPr lang="es-ES" dirty="0"/>
              <a:t>-art GI </a:t>
            </a:r>
            <a:r>
              <a:rPr lang="es-ES" dirty="0" err="1"/>
              <a:t>algorithms</a:t>
            </a:r>
            <a:r>
              <a:rPr lang="es-ES" dirty="0"/>
              <a:t>. </a:t>
            </a:r>
            <a:r>
              <a:rPr lang="es-ES" dirty="0" err="1"/>
              <a:t>Using</a:t>
            </a:r>
            <a:r>
              <a:rPr lang="es-ES" dirty="0"/>
              <a:t> median </a:t>
            </a:r>
            <a:r>
              <a:rPr lang="es-ES" dirty="0" err="1"/>
              <a:t>aggregation</a:t>
            </a:r>
            <a:r>
              <a:rPr lang="es-ES" dirty="0"/>
              <a:t> (</a:t>
            </a:r>
            <a:r>
              <a:rPr lang="es-ES" dirty="0" err="1"/>
              <a:t>robust</a:t>
            </a:r>
            <a:r>
              <a:rPr lang="es-ES" dirty="0"/>
              <a:t>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outlier</a:t>
            </a:r>
            <a:r>
              <a:rPr lang="es-ES" dirty="0"/>
              <a:t> </a:t>
            </a:r>
            <a:r>
              <a:rPr lang="es-ES" dirty="0" err="1"/>
              <a:t>folds</a:t>
            </a:r>
            <a:r>
              <a:rPr lang="es-ES" dirty="0"/>
              <a:t>)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endParaRPr lang="es-E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lang="es-ES" dirty="0"/>
              <a:t>UMDA4GI and </a:t>
            </a:r>
            <a:r>
              <a:rPr lang="es-ES" dirty="0" err="1"/>
              <a:t>RandomSearch</a:t>
            </a:r>
            <a:r>
              <a:rPr lang="es-ES" dirty="0"/>
              <a:t> </a:t>
            </a:r>
            <a:r>
              <a:rPr lang="es-ES" dirty="0" err="1"/>
              <a:t>tie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Sum (9) and </a:t>
            </a:r>
            <a:r>
              <a:rPr lang="es-ES" dirty="0" err="1"/>
              <a:t>worst</a:t>
            </a:r>
            <a:r>
              <a:rPr lang="es-ES" dirty="0"/>
              <a:t> </a:t>
            </a:r>
            <a:r>
              <a:rPr lang="es-ES" dirty="0" err="1"/>
              <a:t>rank</a:t>
            </a:r>
            <a:r>
              <a:rPr lang="es-ES" dirty="0"/>
              <a:t> (3). The </a:t>
            </a:r>
            <a:r>
              <a:rPr lang="es-ES" dirty="0" err="1"/>
              <a:t>tiebreak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resolved </a:t>
            </a:r>
            <a:r>
              <a:rPr lang="es-ES" dirty="0" err="1"/>
              <a:t>by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number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software </a:t>
            </a:r>
            <a:r>
              <a:rPr lang="es-ES" dirty="0" err="1"/>
              <a:t>subjects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rank</a:t>
            </a:r>
            <a:r>
              <a:rPr lang="es-ES" dirty="0"/>
              <a:t> ≤ 2: UMDA4GI </a:t>
            </a:r>
            <a:r>
              <a:rPr lang="es-ES" dirty="0" err="1"/>
              <a:t>reaches</a:t>
            </a:r>
            <a:r>
              <a:rPr lang="es-ES" dirty="0"/>
              <a:t> </a:t>
            </a:r>
            <a:r>
              <a:rPr lang="es-ES" dirty="0" err="1"/>
              <a:t>rank</a:t>
            </a:r>
            <a:r>
              <a:rPr lang="es-ES" dirty="0"/>
              <a:t> ≤ 2 in 3 </a:t>
            </a:r>
            <a:r>
              <a:rPr lang="es-ES" dirty="0" err="1"/>
              <a:t>subjects</a:t>
            </a:r>
            <a:r>
              <a:rPr lang="es-ES" dirty="0"/>
              <a:t> (</a:t>
            </a:r>
            <a:r>
              <a:rPr lang="es-ES" dirty="0" err="1"/>
              <a:t>MiniSAT-hack</a:t>
            </a:r>
            <a:r>
              <a:rPr lang="es-ES" dirty="0"/>
              <a:t>, Sat4J, </a:t>
            </a:r>
            <a:r>
              <a:rPr lang="es-ES" dirty="0" err="1"/>
              <a:t>Weka</a:t>
            </a:r>
            <a:r>
              <a:rPr lang="es-ES" dirty="0"/>
              <a:t>) versus 2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RandomSearch</a:t>
            </a:r>
            <a:r>
              <a:rPr lang="es-ES" dirty="0"/>
              <a:t> (</a:t>
            </a:r>
            <a:r>
              <a:rPr lang="es-ES" dirty="0" err="1"/>
              <a:t>MiniSAT-hack</a:t>
            </a:r>
            <a:r>
              <a:rPr lang="es-ES" dirty="0"/>
              <a:t>, </a:t>
            </a:r>
            <a:r>
              <a:rPr lang="es-ES" dirty="0" err="1"/>
              <a:t>OptimPNG</a:t>
            </a:r>
            <a:r>
              <a:rPr lang="es-ES" dirty="0"/>
              <a:t>), </a:t>
            </a:r>
            <a:r>
              <a:rPr lang="es-ES" dirty="0" err="1"/>
              <a:t>placing</a:t>
            </a:r>
            <a:r>
              <a:rPr lang="es-ES" dirty="0"/>
              <a:t> UMDA4GI 2nd </a:t>
            </a:r>
            <a:r>
              <a:rPr lang="es-ES" dirty="0" err="1"/>
              <a:t>overall</a:t>
            </a:r>
            <a:r>
              <a:rPr lang="es-ES" dirty="0"/>
              <a:t>.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endParaRPr lang="es-E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lang="es-ES" dirty="0"/>
              <a:t>Also, </a:t>
            </a:r>
            <a:r>
              <a:rPr lang="es-ES" dirty="0" err="1"/>
              <a:t>RandomSearch</a:t>
            </a:r>
            <a:r>
              <a:rPr lang="es-ES" dirty="0"/>
              <a:t> </a:t>
            </a:r>
            <a:r>
              <a:rPr lang="es-ES" dirty="0" err="1"/>
              <a:t>is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slowest</a:t>
            </a:r>
            <a:endParaRPr lang="es-E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endParaRPr lang="es-ES" dirty="0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  <a:defRPr sz="1500" b="0">
                <a:solidFill>
                  <a:srgbClr val="333333"/>
                </a:solidFill>
              </a:defRPr>
            </a:pPr>
            <a:r>
              <a:rPr lang="es-ES" dirty="0"/>
              <a:t>11 </a:t>
            </a:r>
            <a:r>
              <a:rPr lang="es-ES" dirty="0" err="1"/>
              <a:t>runs</a:t>
            </a:r>
            <a:r>
              <a:rPr lang="es-ES" dirty="0"/>
              <a:t> </a:t>
            </a:r>
            <a:r>
              <a:rPr lang="es-ES" dirty="0" err="1"/>
              <a:t>did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find</a:t>
            </a:r>
            <a:r>
              <a:rPr lang="es-ES" dirty="0"/>
              <a:t> a </a:t>
            </a:r>
            <a:r>
              <a:rPr lang="es-ES" dirty="0" err="1"/>
              <a:t>better</a:t>
            </a:r>
            <a:r>
              <a:rPr lang="es-ES" dirty="0"/>
              <a:t> </a:t>
            </a:r>
            <a:r>
              <a:rPr lang="es-ES" dirty="0" err="1"/>
              <a:t>variant</a:t>
            </a:r>
            <a:r>
              <a:rPr lang="es-ES" dirty="0"/>
              <a:t> (</a:t>
            </a:r>
            <a:r>
              <a:rPr lang="es-ES" dirty="0" err="1"/>
              <a:t>never</a:t>
            </a:r>
            <a:r>
              <a:rPr lang="es-ES" dirty="0"/>
              <a:t> </a:t>
            </a:r>
            <a:r>
              <a:rPr lang="es-ES" dirty="0" err="1"/>
              <a:t>happened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UMDA4GI).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C1D18"/>
                </a:solidFill>
              </a:defRPr>
            </a:pPr>
            <a:r>
              <a:rPr dirty="0"/>
              <a:t>RQ2 — Which algorithm has the </a:t>
            </a:r>
            <a:r>
              <a:rPr lang="es-ES" dirty="0" err="1"/>
              <a:t>highest</a:t>
            </a:r>
            <a:r>
              <a:rPr lang="es-ES" dirty="0"/>
              <a:t> </a:t>
            </a:r>
            <a:r>
              <a:rPr lang="es-ES" dirty="0" err="1"/>
              <a:t>generalization</a:t>
            </a:r>
            <a:r>
              <a:rPr dirty="0"/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7295" cy="31750"/>
          </a:xfrm>
          <a:prstGeom prst="rect">
            <a:avLst/>
          </a:prstGeom>
          <a:solidFill>
            <a:srgbClr val="B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7295" cy="64008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C8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600" b="1">
                <a:solidFill>
                  <a:srgbClr val="B82A2A"/>
                </a:solidFill>
              </a:defRPr>
            </a:pPr>
            <a:r>
              <a:rPr dirty="0"/>
              <a:t>Answer: UMDA4GI. </a:t>
            </a:r>
            <a:r>
              <a:rPr lang="es-ES" dirty="0" err="1"/>
              <a:t>Higher</a:t>
            </a:r>
            <a:r>
              <a:rPr lang="es-ES" dirty="0"/>
              <a:t> </a:t>
            </a:r>
            <a:r>
              <a:rPr lang="es-ES" dirty="0" err="1"/>
              <a:t>generalization</a:t>
            </a:r>
            <a:r>
              <a:rPr lang="es-ES" dirty="0"/>
              <a:t> </a:t>
            </a:r>
            <a:r>
              <a:rPr dirty="0"/>
              <a:t>overall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2011680"/>
          <a:ext cx="69494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9277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27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MiniSAT-hack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OptimPNG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Sat4J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Weka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Sum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Top-2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UMDA4GI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RandomSearch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GP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FI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114800"/>
            <a:ext cx="11277295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rPr dirty="0"/>
              <a:t>•  FI best on improvement (RQ1) but worst on </a:t>
            </a:r>
            <a:r>
              <a:rPr lang="es-ES" dirty="0" err="1"/>
              <a:t>generalization</a:t>
            </a:r>
            <a:r>
              <a:rPr dirty="0"/>
              <a:t> here — a clear trade-off to discuss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endParaRPr dirty="0"/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58D0CAD-5120-C223-3AF6-FCF390CB6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436" y="828318"/>
            <a:ext cx="7443793" cy="4850170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E3669269-440A-6CD2-C66B-1E4D6F11EC1D}"/>
              </a:ext>
            </a:extLst>
          </p:cNvPr>
          <p:cNvSpPr txBox="1"/>
          <p:nvPr/>
        </p:nvSpPr>
        <p:spPr>
          <a:xfrm>
            <a:off x="457200" y="27432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C1D18"/>
                </a:solidFill>
              </a:defRPr>
            </a:pPr>
            <a:r>
              <a:rPr dirty="0"/>
              <a:t>RQ</a:t>
            </a:r>
            <a:r>
              <a:rPr lang="es-ES" dirty="0"/>
              <a:t>2 </a:t>
            </a:r>
            <a:r>
              <a:rPr lang="es-ES" dirty="0" err="1"/>
              <a:t>example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plots</a:t>
            </a:r>
            <a:r>
              <a:rPr lang="es-ES" dirty="0"/>
              <a:t> and </a:t>
            </a:r>
            <a:r>
              <a:rPr lang="es-ES" dirty="0" err="1"/>
              <a:t>tabbed</a:t>
            </a:r>
            <a:r>
              <a:rPr lang="es-ES" dirty="0"/>
              <a:t> data</a:t>
            </a:r>
            <a:endParaRPr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E1D68EF-150A-FA35-DC89-B1CCD2F770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461" y="2125744"/>
            <a:ext cx="4372980" cy="3034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026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C1D18"/>
                </a:solidFill>
              </a:defRPr>
            </a:pPr>
            <a:r>
              <a:rPr dirty="0"/>
              <a:t>RQ3 — </a:t>
            </a:r>
            <a:r>
              <a:rPr sz="2400" dirty="0"/>
              <a:t>Do Vt, </a:t>
            </a:r>
            <a:r>
              <a:rPr sz="2400" dirty="0" err="1"/>
              <a:t>Vc</a:t>
            </a:r>
            <a:r>
              <a:rPr sz="2400" dirty="0"/>
              <a:t>, </a:t>
            </a:r>
            <a:r>
              <a:rPr sz="2400" dirty="0" err="1"/>
              <a:t>max_evals</a:t>
            </a:r>
            <a:r>
              <a:rPr sz="2400" dirty="0"/>
              <a:t> correlate with </a:t>
            </a:r>
            <a:r>
              <a:rPr lang="es-ES" sz="2400" dirty="0" err="1"/>
              <a:t>generalization</a:t>
            </a:r>
            <a:r>
              <a:rPr lang="es-ES" sz="2400" dirty="0"/>
              <a:t> </a:t>
            </a:r>
            <a:r>
              <a:rPr lang="es-ES" sz="2400" dirty="0" err="1"/>
              <a:t>or</a:t>
            </a:r>
            <a:r>
              <a:rPr lang="es-ES" sz="2400" dirty="0"/>
              <a:t> </a:t>
            </a:r>
            <a:r>
              <a:rPr lang="es-ES" sz="2400" dirty="0" err="1"/>
              <a:t>improvement</a:t>
            </a:r>
            <a:r>
              <a:rPr sz="2400" dirty="0"/>
              <a:t>?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7295" cy="31750"/>
          </a:xfrm>
          <a:prstGeom prst="rect">
            <a:avLst/>
          </a:prstGeom>
          <a:solidFill>
            <a:srgbClr val="B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7295" cy="7315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C8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600" b="1">
                <a:solidFill>
                  <a:srgbClr val="B82A2A"/>
                </a:solidFill>
              </a:defRPr>
            </a:pPr>
            <a:r>
              <a:rPr dirty="0"/>
              <a:t>Answer: </a:t>
            </a:r>
            <a:r>
              <a:rPr dirty="0" err="1"/>
              <a:t>max_evals</a:t>
            </a:r>
            <a:r>
              <a:rPr dirty="0"/>
              <a:t> </a:t>
            </a:r>
            <a:r>
              <a:rPr lang="es-ES" dirty="0" err="1"/>
              <a:t>correlates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dirty="0"/>
              <a:t> validation </a:t>
            </a:r>
            <a:r>
              <a:rPr lang="es-ES" dirty="0" err="1"/>
              <a:t>improvement</a:t>
            </a:r>
            <a:r>
              <a:rPr dirty="0"/>
              <a:t>.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80F6A54-46F7-0C9A-9A46-9A8B0F045E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1055" y="2735000"/>
            <a:ext cx="9281769" cy="3300475"/>
          </a:xfrm>
          <a:prstGeom prst="rect">
            <a:avLst/>
          </a:prstGeom>
        </p:spPr>
      </p:pic>
      <p:sp>
        <p:nvSpPr>
          <p:cNvPr id="11" name="Rounded Rectangle 4">
            <a:extLst>
              <a:ext uri="{FF2B5EF4-FFF2-40B4-BE49-F238E27FC236}">
                <a16:creationId xmlns:a16="http://schemas.microsoft.com/office/drawing/2014/main" id="{0028FE01-DFA4-AD17-630B-E1108F9A596F}"/>
              </a:ext>
            </a:extLst>
          </p:cNvPr>
          <p:cNvSpPr/>
          <p:nvPr/>
        </p:nvSpPr>
        <p:spPr>
          <a:xfrm>
            <a:off x="528218" y="1939000"/>
            <a:ext cx="11277295" cy="731520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  <a:ln w="19050">
            <a:solidFill>
              <a:srgbClr val="C8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600" b="1">
                <a:solidFill>
                  <a:srgbClr val="B82A2A"/>
                </a:solidFill>
              </a:defRPr>
            </a:pPr>
            <a:r>
              <a:rPr dirty="0"/>
              <a:t>Answer: </a:t>
            </a:r>
            <a:r>
              <a:rPr lang="es-ES" dirty="0" err="1"/>
              <a:t>Vt</a:t>
            </a:r>
            <a:r>
              <a:rPr lang="es-ES" dirty="0"/>
              <a:t> and </a:t>
            </a:r>
            <a:r>
              <a:rPr lang="es-ES" dirty="0" err="1"/>
              <a:t>Vc</a:t>
            </a:r>
            <a:r>
              <a:rPr lang="es-ES" dirty="0"/>
              <a:t> do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correlate</a:t>
            </a:r>
            <a:r>
              <a:rPr lang="es-ES" dirty="0"/>
              <a:t> </a:t>
            </a:r>
            <a:r>
              <a:rPr lang="es-ES" dirty="0" err="1"/>
              <a:t>with</a:t>
            </a:r>
            <a:r>
              <a:rPr lang="es-ES" dirty="0"/>
              <a:t> </a:t>
            </a:r>
            <a:r>
              <a:rPr lang="es-ES" dirty="0" err="1"/>
              <a:t>generalization</a:t>
            </a:r>
            <a:r>
              <a:rPr lang="es-ES" dirty="0"/>
              <a:t> </a:t>
            </a:r>
            <a:r>
              <a:rPr lang="es-ES" dirty="0" err="1"/>
              <a:t>nor</a:t>
            </a:r>
            <a:r>
              <a:rPr lang="es-ES" dirty="0"/>
              <a:t> </a:t>
            </a:r>
            <a:r>
              <a:rPr lang="es-ES" dirty="0" err="1"/>
              <a:t>improvement</a:t>
            </a:r>
            <a:r>
              <a:rPr dirty="0"/>
              <a:t>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9E69938-3CB5-5F9B-D958-1A84197AF160}"/>
              </a:ext>
            </a:extLst>
          </p:cNvPr>
          <p:cNvSpPr txBox="1"/>
          <p:nvPr/>
        </p:nvSpPr>
        <p:spPr>
          <a:xfrm>
            <a:off x="4672584" y="6035475"/>
            <a:ext cx="22145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i="1" dirty="0"/>
              <a:t>Shall </a:t>
            </a:r>
            <a:r>
              <a:rPr lang="es-ES" i="1" dirty="0" err="1"/>
              <a:t>we</a:t>
            </a:r>
            <a:r>
              <a:rPr lang="es-ES" i="1" dirty="0"/>
              <a:t> </a:t>
            </a:r>
            <a:r>
              <a:rPr lang="es-ES" i="1" dirty="0" err="1"/>
              <a:t>skip</a:t>
            </a:r>
            <a:r>
              <a:rPr lang="es-ES" i="1" dirty="0"/>
              <a:t> </a:t>
            </a:r>
            <a:r>
              <a:rPr lang="es-ES" i="1" dirty="0" err="1"/>
              <a:t>this</a:t>
            </a:r>
            <a:r>
              <a:rPr lang="es-ES" i="1" dirty="0"/>
              <a:t> RQ?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098E8-03A9-E514-70DA-D74D92A4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527952-BB68-79DA-4A64-A7CE19DAD8F6}"/>
              </a:ext>
            </a:extLst>
          </p:cNvPr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8EBC1-7A8B-8887-D70B-F3AE6BEC2E5B}"/>
              </a:ext>
            </a:extLst>
          </p:cNvPr>
          <p:cNvSpPr txBox="1"/>
          <p:nvPr/>
        </p:nvSpPr>
        <p:spPr>
          <a:xfrm>
            <a:off x="457200" y="27432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C1D18"/>
                </a:solidFill>
              </a:defRPr>
            </a:pPr>
            <a:r>
              <a:rPr dirty="0"/>
              <a:t>RQ4 — Does feeding UMDA's distribution to </a:t>
            </a:r>
            <a:r>
              <a:rPr lang="es-ES" dirty="0" err="1"/>
              <a:t>an</a:t>
            </a:r>
            <a:r>
              <a:rPr dirty="0"/>
              <a:t> LLM help?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3822B4-20F5-19B3-CCA3-50FBB3B56D60}"/>
              </a:ext>
            </a:extLst>
          </p:cNvPr>
          <p:cNvSpPr/>
          <p:nvPr/>
        </p:nvSpPr>
        <p:spPr>
          <a:xfrm>
            <a:off x="457200" y="960120"/>
            <a:ext cx="11277295" cy="31750"/>
          </a:xfrm>
          <a:prstGeom prst="rect">
            <a:avLst/>
          </a:prstGeom>
          <a:solidFill>
            <a:srgbClr val="B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6F18AFCB-C21C-C22F-092C-2BFAB473B0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0552176" cy="4525963"/>
          </a:xfrm>
        </p:spPr>
        <p:txBody>
          <a:bodyPr>
            <a:normAutofit lnSpcReduction="10000"/>
          </a:bodyPr>
          <a:lstStyle/>
          <a:p>
            <a:r>
              <a:rPr lang="es-ES" sz="2800" dirty="0"/>
              <a:t>LLM </a:t>
            </a:r>
            <a:r>
              <a:rPr lang="es-ES" sz="2800" dirty="0" err="1"/>
              <a:t>used</a:t>
            </a:r>
            <a:r>
              <a:rPr lang="es-ES" sz="2800" dirty="0"/>
              <a:t> </a:t>
            </a:r>
            <a:r>
              <a:rPr lang="es-ES" sz="2800" dirty="0" err="1"/>
              <a:t>to</a:t>
            </a:r>
            <a:r>
              <a:rPr lang="es-ES" sz="2800" dirty="0"/>
              <a:t> </a:t>
            </a:r>
            <a:r>
              <a:rPr lang="es-ES" sz="2800" dirty="0" err="1"/>
              <a:t>create</a:t>
            </a:r>
            <a:r>
              <a:rPr lang="es-ES" sz="2800" dirty="0"/>
              <a:t> </a:t>
            </a:r>
            <a:r>
              <a:rPr lang="es-ES" sz="2800" dirty="0" err="1"/>
              <a:t>population</a:t>
            </a:r>
            <a:r>
              <a:rPr lang="es-ES" sz="2800" dirty="0"/>
              <a:t> (qwen2.5-coder:7b and llama3.1:8b)</a:t>
            </a:r>
          </a:p>
          <a:p>
            <a:endParaRPr lang="es-ES" sz="2800" dirty="0"/>
          </a:p>
          <a:p>
            <a:r>
              <a:rPr lang="es-ES" sz="2800" dirty="0"/>
              <a:t>LLM </a:t>
            </a:r>
            <a:r>
              <a:rPr lang="es-ES" sz="2800" dirty="0" err="1"/>
              <a:t>prompt</a:t>
            </a:r>
            <a:r>
              <a:rPr lang="es-ES" sz="2800" dirty="0"/>
              <a:t>: </a:t>
            </a:r>
          </a:p>
          <a:p>
            <a:pPr marL="800100" lvl="2" indent="0">
              <a:buNone/>
            </a:pPr>
            <a:r>
              <a:rPr lang="es-ES" sz="2000" dirty="0"/>
              <a:t>Block 1 — </a:t>
            </a:r>
            <a:r>
              <a:rPr lang="es-ES" sz="2000" dirty="0" err="1"/>
              <a:t>Task</a:t>
            </a:r>
            <a:r>
              <a:rPr lang="es-ES" sz="2000" dirty="0"/>
              <a:t> </a:t>
            </a:r>
            <a:r>
              <a:rPr lang="es-ES" sz="2000" dirty="0" err="1"/>
              <a:t>description</a:t>
            </a:r>
            <a:r>
              <a:rPr lang="es-ES" sz="2000" dirty="0"/>
              <a:t> + full </a:t>
            </a:r>
            <a:r>
              <a:rPr lang="es-ES" sz="2000" dirty="0" err="1"/>
              <a:t>source</a:t>
            </a:r>
            <a:r>
              <a:rPr lang="es-ES" sz="2000" dirty="0"/>
              <a:t> </a:t>
            </a:r>
            <a:r>
              <a:rPr lang="es-ES" sz="2000" dirty="0" err="1"/>
              <a:t>code</a:t>
            </a:r>
            <a:endParaRPr lang="es-ES" sz="2000" dirty="0"/>
          </a:p>
          <a:p>
            <a:pPr marL="800100" lvl="2" indent="0">
              <a:buNone/>
            </a:pPr>
            <a:r>
              <a:rPr lang="es-ES" sz="2000" dirty="0"/>
              <a:t>Block 2 — Best </a:t>
            </a:r>
            <a:r>
              <a:rPr lang="es-ES" sz="2000" dirty="0" err="1"/>
              <a:t>patches</a:t>
            </a:r>
            <a:r>
              <a:rPr lang="es-ES" sz="2000" dirty="0"/>
              <a:t> </a:t>
            </a:r>
            <a:r>
              <a:rPr lang="es-ES" sz="2000" dirty="0" err="1"/>
              <a:t>found</a:t>
            </a:r>
            <a:r>
              <a:rPr lang="es-ES" sz="2000" dirty="0"/>
              <a:t> so </a:t>
            </a:r>
            <a:r>
              <a:rPr lang="es-ES" sz="2000" dirty="0" err="1"/>
              <a:t>far</a:t>
            </a:r>
            <a:endParaRPr lang="es-ES" sz="2000" dirty="0"/>
          </a:p>
          <a:p>
            <a:pPr marL="800100" lvl="2" indent="0">
              <a:buNone/>
            </a:pPr>
            <a:r>
              <a:rPr lang="es-ES" sz="2000" i="1" dirty="0"/>
              <a:t>Block 3 — UMDA </a:t>
            </a:r>
            <a:r>
              <a:rPr lang="es-ES" sz="2000" i="1" dirty="0" err="1"/>
              <a:t>distribution</a:t>
            </a:r>
            <a:r>
              <a:rPr lang="es-ES" sz="2000" i="1" dirty="0"/>
              <a:t> (</a:t>
            </a:r>
            <a:r>
              <a:rPr lang="es-ES" sz="2000" i="1" dirty="0" err="1"/>
              <a:t>used</a:t>
            </a:r>
            <a:r>
              <a:rPr lang="es-ES" sz="2000" i="1" dirty="0"/>
              <a:t> in UMDA+LLM, </a:t>
            </a:r>
            <a:r>
              <a:rPr lang="es-ES" sz="2000" i="1" dirty="0" err="1"/>
              <a:t>absent</a:t>
            </a:r>
            <a:r>
              <a:rPr lang="es-ES" sz="2000" i="1" dirty="0"/>
              <a:t> in LLM </a:t>
            </a:r>
            <a:r>
              <a:rPr lang="es-ES" sz="2000" i="1" dirty="0" err="1"/>
              <a:t>only</a:t>
            </a:r>
            <a:r>
              <a:rPr lang="es-ES" sz="2000" i="1" dirty="0"/>
              <a:t>)</a:t>
            </a:r>
          </a:p>
          <a:p>
            <a:pPr marL="800100" lvl="2" indent="0">
              <a:buNone/>
            </a:pPr>
            <a:r>
              <a:rPr lang="es-ES" sz="2000" dirty="0"/>
              <a:t>Block 4 — Output </a:t>
            </a:r>
            <a:r>
              <a:rPr lang="es-ES" sz="2000" dirty="0" err="1"/>
              <a:t>format</a:t>
            </a:r>
            <a:r>
              <a:rPr lang="es-ES" sz="2000" dirty="0"/>
              <a:t> </a:t>
            </a:r>
            <a:r>
              <a:rPr lang="es-ES" sz="2000" dirty="0" err="1"/>
              <a:t>specification</a:t>
            </a:r>
            <a:endParaRPr lang="es-ES" sz="2000" dirty="0"/>
          </a:p>
          <a:p>
            <a:pPr marL="800100" lvl="2" indent="0">
              <a:buNone/>
            </a:pPr>
            <a:endParaRPr lang="es-ES" sz="2000" dirty="0"/>
          </a:p>
          <a:p>
            <a:pPr algn="just"/>
            <a:r>
              <a:rPr lang="es-ES" sz="2800" dirty="0" err="1"/>
              <a:t>Since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</a:t>
            </a:r>
            <a:r>
              <a:rPr lang="es-ES" sz="2800" dirty="0" err="1"/>
              <a:t>only</a:t>
            </a:r>
            <a:r>
              <a:rPr lang="es-ES" sz="2800" dirty="0"/>
              <a:t> </a:t>
            </a:r>
            <a:r>
              <a:rPr lang="es-ES" sz="2800" dirty="0" err="1"/>
              <a:t>difference</a:t>
            </a:r>
            <a:r>
              <a:rPr lang="es-ES" sz="2800" dirty="0"/>
              <a:t> </a:t>
            </a:r>
            <a:r>
              <a:rPr lang="es-ES" sz="2800" dirty="0" err="1"/>
              <a:t>between</a:t>
            </a:r>
            <a:r>
              <a:rPr lang="es-ES" sz="2800" dirty="0"/>
              <a:t> LLM </a:t>
            </a:r>
            <a:r>
              <a:rPr lang="es-ES" sz="2800" dirty="0" err="1"/>
              <a:t>only</a:t>
            </a:r>
            <a:r>
              <a:rPr lang="es-ES" sz="2800" dirty="0"/>
              <a:t> and UMDA+LLM </a:t>
            </a:r>
            <a:r>
              <a:rPr lang="es-ES" sz="2800" dirty="0" err="1"/>
              <a:t>is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UMDA </a:t>
            </a:r>
            <a:r>
              <a:rPr lang="es-ES" sz="2800" dirty="0" err="1"/>
              <a:t>distribution</a:t>
            </a:r>
            <a:r>
              <a:rPr lang="es-ES" sz="2800" dirty="0"/>
              <a:t> (block 3), RQ4 can be </a:t>
            </a:r>
            <a:r>
              <a:rPr lang="es-ES" sz="2800" dirty="0" err="1"/>
              <a:t>answered</a:t>
            </a:r>
            <a:r>
              <a:rPr lang="es-ES" sz="2800" dirty="0"/>
              <a:t> </a:t>
            </a:r>
            <a:r>
              <a:rPr lang="es-ES" sz="2800" dirty="0" err="1"/>
              <a:t>by</a:t>
            </a:r>
            <a:r>
              <a:rPr lang="es-ES" sz="2800" dirty="0"/>
              <a:t> </a:t>
            </a:r>
            <a:r>
              <a:rPr lang="es-ES" sz="2800" dirty="0" err="1"/>
              <a:t>comparing</a:t>
            </a:r>
            <a:r>
              <a:rPr lang="es-ES" sz="2800" dirty="0"/>
              <a:t> </a:t>
            </a:r>
            <a:r>
              <a:rPr lang="es-ES" sz="2800" dirty="0" err="1"/>
              <a:t>the</a:t>
            </a:r>
            <a:r>
              <a:rPr lang="es-ES" sz="2800" dirty="0"/>
              <a:t> </a:t>
            </a:r>
            <a:r>
              <a:rPr lang="es-ES" sz="2800" dirty="0" err="1"/>
              <a:t>results</a:t>
            </a:r>
            <a:r>
              <a:rPr lang="es-E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88815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C1D18"/>
                </a:solidFill>
              </a:defRPr>
            </a:pPr>
            <a:r>
              <a:rPr dirty="0"/>
              <a:t>RQ4 — Does feeding UMDA's distribution to </a:t>
            </a:r>
            <a:r>
              <a:rPr lang="es-ES" dirty="0" err="1"/>
              <a:t>an</a:t>
            </a:r>
            <a:r>
              <a:rPr dirty="0"/>
              <a:t> LLM help?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7295" cy="31750"/>
          </a:xfrm>
          <a:prstGeom prst="rect">
            <a:avLst/>
          </a:prstGeom>
          <a:solidFill>
            <a:srgbClr val="B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57200" y="1143000"/>
            <a:ext cx="11277295" cy="73152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 w="19050">
            <a:solidFill>
              <a:srgbClr val="C85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ctr">
              <a:defRPr sz="1600" b="1">
                <a:solidFill>
                  <a:srgbClr val="B82A2A"/>
                </a:solidFill>
              </a:defRPr>
            </a:pPr>
            <a:r>
              <a:rPr dirty="0"/>
              <a:t>Answer: </a:t>
            </a:r>
            <a:r>
              <a:rPr lang="es-ES" dirty="0"/>
              <a:t>Yes,</a:t>
            </a:r>
            <a:r>
              <a:rPr dirty="0"/>
              <a:t> UMDA+LLM beats LLM-only in every ranking</a:t>
            </a:r>
            <a:r>
              <a:rPr lang="es-ES" dirty="0"/>
              <a:t> (and, </a:t>
            </a:r>
            <a:r>
              <a:rPr lang="es-ES" dirty="0" err="1"/>
              <a:t>by</a:t>
            </a:r>
            <a:r>
              <a:rPr lang="es-ES" dirty="0"/>
              <a:t> Little, original single UMDAGI).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4026114"/>
              </p:ext>
            </p:extLst>
          </p:nvPr>
        </p:nvGraphicFramePr>
        <p:xfrm>
          <a:off x="457200" y="2103120"/>
          <a:ext cx="58521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36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78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624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Rank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By improvement (sum)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rPr dirty="0"/>
                        <a:t>By </a:t>
                      </a:r>
                      <a:r>
                        <a:rPr lang="es-ES" dirty="0"/>
                        <a:t> </a:t>
                      </a:r>
                      <a:r>
                        <a:rPr lang="es-ES" dirty="0" err="1"/>
                        <a:t>generaliz</a:t>
                      </a:r>
                      <a:r>
                        <a:rPr lang="es-ES" dirty="0"/>
                        <a:t>.</a:t>
                      </a:r>
                      <a:r>
                        <a:rPr dirty="0"/>
                        <a:t> (sum)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UMDA+qwen2.5-coder (7)</a:t>
                      </a:r>
                    </a:p>
                  </a:txBody>
                  <a:tcPr anchor="ctr"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/>
                        <a:t>LLM-qwen2.5-coder (8)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UMDA4GI (8)</a:t>
                      </a:r>
                    </a:p>
                  </a:txBody>
                  <a:tcPr anchor="ctr">
                    <a:solidFill>
                      <a:srgbClr val="C9A2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/>
                        <a:t>UMDA+llama3.1 (11)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UMDA+llama3.1 (11)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/>
                        <a:t>LLM-llama3.1 (13)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LLM-qwen2.5-coder (15)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/>
                        <a:t>UMDA4GI (14)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l">
                        <a:defRPr sz="1300"/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t>LLM-llama3.1 (19)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/>
                      </a:pPr>
                      <a:r>
                        <a:rPr dirty="0"/>
                        <a:t>UMDA+qwen2.5-coder (14)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83680" y="2103120"/>
            <a:ext cx="512064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</a:defRPr>
            </a:pPr>
            <a:r>
              <a:rPr dirty="0"/>
              <a:t>•  UMDA distribution clearly helps the LLM: +8 rank positions for both models (</a:t>
            </a:r>
            <a:r>
              <a:rPr dirty="0" err="1"/>
              <a:t>qwen</a:t>
            </a:r>
            <a:r>
              <a:rPr dirty="0"/>
              <a:t>: 7 vs 15, llama: 11 vs 19)</a:t>
            </a:r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</a:defRPr>
            </a:pPr>
            <a:r>
              <a:rPr dirty="0"/>
              <a:t>•  LLM-only, llama: worst on all 4 programs, </a:t>
            </a:r>
            <a:r>
              <a:rPr lang="es-ES" dirty="0" err="1"/>
              <a:t>worst</a:t>
            </a:r>
            <a:r>
              <a:rPr dirty="0"/>
              <a:t> </a:t>
            </a:r>
            <a:r>
              <a:rPr lang="es-ES" dirty="0" err="1"/>
              <a:t>generalization</a:t>
            </a:r>
            <a:endParaRPr dirty="0"/>
          </a:p>
          <a:p>
            <a:pPr>
              <a:spcAft>
                <a:spcPts val="600"/>
              </a:spcAft>
              <a:defRPr sz="1300" b="0">
                <a:solidFill>
                  <a:srgbClr val="333333"/>
                </a:solidFill>
              </a:defRPr>
            </a:pPr>
            <a:r>
              <a:rPr dirty="0"/>
              <a:t>•  All 3 UMDA-based groups dominate the normalized-score ranking (0.659–0.792) vs LLM-only (−0.039–0.271)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0F3A9CD-4213-E97E-8BED-B58879725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3578215"/>
            <a:ext cx="4449339" cy="2546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C1D18"/>
                </a:solidFill>
              </a:defRPr>
            </a:pPr>
            <a:r>
              <a:t>RQ4 — Patch-finding rate: why LLM-only underperforms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7295" cy="31750"/>
          </a:xfrm>
          <a:prstGeom prst="rect">
            <a:avLst/>
          </a:prstGeom>
          <a:solidFill>
            <a:srgbClr val="B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69494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898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Group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Runs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Patch found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 patch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% no patch</a:t>
                      </a:r>
                    </a:p>
                  </a:txBody>
                  <a:tcPr anchor="ctr">
                    <a:solidFill>
                      <a:srgbClr val="8C1D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UMDA4GI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0%</a:t>
                      </a:r>
                    </a:p>
                  </a:txBody>
                  <a:tcPr anchor="ctr">
                    <a:solidFill>
                      <a:srgbClr val="3F7D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UMDA+llama3.1:8b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4%</a:t>
                      </a:r>
                    </a:p>
                  </a:txBody>
                  <a:tcPr anchor="ctr">
                    <a:solidFill>
                      <a:srgbClr val="3F7D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UMDA+qwen2.5-coder:7b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3%</a:t>
                      </a:r>
                    </a:p>
                  </a:txBody>
                  <a:tcPr anchor="ctr">
                    <a:solidFill>
                      <a:srgbClr val="3F7D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LLM-llama3.1:8b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42%</a:t>
                      </a:r>
                    </a:p>
                  </a:txBody>
                  <a:tcPr anchor="ctr">
                    <a:solidFill>
                      <a:srgbClr val="C0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l">
                        <a:defRPr sz="1200"/>
                      </a:pPr>
                      <a:r>
                        <a:t>LLM-qwen2.5-coder:7b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79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/>
                      </a:pPr>
                      <a:r>
                        <a:t>21%</a:t>
                      </a:r>
                    </a:p>
                  </a:txBody>
                  <a:tcPr anchor="ctr">
                    <a:solidFill>
                      <a:srgbClr val="C05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657600"/>
            <a:ext cx="112772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8C1D18"/>
                </a:solidFill>
              </a:defRPr>
            </a:pPr>
            <a:r>
              <a:t>Key takeaway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 LLM-only fails to produce a working patch in 21–42% of runs (empty validate_log → patch_length=0)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 Feeding it the UMDA distribution cuts failure to 3–4%, matching the no-LLM baselines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 This explains why LLM-only's median change is 0% on several programs — a large share of runs contribute nothing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•  LLM-qwen has the lowest overfitting overall (rank 8) despite ranking 4th on improvement — when it does find a patch, it generalizes well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RQ4  ·  2/2  ·  Writing note: this table is the strongest argument for the 'distribution-guided LLM' contribution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8C1D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8C1D18"/>
                </a:solidFill>
              </a:defRPr>
            </a:pPr>
            <a:r>
              <a:t>Paper Writing Plan</a:t>
            </a:r>
          </a:p>
          <a:p>
            <a:pPr>
              <a:defRPr sz="1500" i="1">
                <a:solidFill>
                  <a:srgbClr val="333333"/>
                </a:solidFill>
              </a:defRPr>
            </a:pPr>
            <a:r>
              <a:t>Draft structure based on RQ1–RQ4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77295" cy="31750"/>
          </a:xfrm>
          <a:prstGeom prst="rect">
            <a:avLst/>
          </a:prstGeom>
          <a:solidFill>
            <a:srgbClr val="B8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9441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•  1. Introduction &amp; Motivation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•  2. Background — UMDA4GI, GI baselines (FI, GP, RandomSearch), LLM-assisted patching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•  3. Experimental Setup — 4 target programs, 5-fold CV, budgets, Perf&lt;Cycles&gt;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•  4. Results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   -  RQ1 — Competitiveness (ranking table + per-program discussion)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   -  RQ2 — Overfitting (ranking table + improvement/overfitting trade-off)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   -  RQ3 — Predictors of performance (max_evals as global signal + notable exceptions)</a:t>
            </a:r>
          </a:p>
          <a:p>
            <a:pPr>
              <a:spcAft>
                <a:spcPts val="600"/>
              </a:spcAft>
              <a:defRPr sz="1500" b="0">
                <a:solidFill>
                  <a:srgbClr val="333333"/>
                </a:solidFill>
              </a:defRPr>
            </a:pPr>
            <a:r>
              <a:t>   -  RQ4 — UMDA distribution feeding the LLM (ranking + patch-finding-rate argument)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•  5. Discussion — limitations (7–8B models only, Weka/OptimPNG ceiling hypotheses, GP outlier)</a:t>
            </a:r>
          </a:p>
          <a:p>
            <a:pPr>
              <a:spcAft>
                <a:spcPts val="600"/>
              </a:spcAft>
              <a:defRPr sz="1700" b="1">
                <a:solidFill>
                  <a:srgbClr val="333333"/>
                </a:solidFill>
              </a:defRPr>
            </a:pPr>
            <a:r>
              <a:t>•  6.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9224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99999"/>
                </a:solidFill>
              </a:defRPr>
            </a:pPr>
            <a:r>
              <a:t>Next: turn each RQ slide's bullets into Results prose; confirm limitations wording with co-author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955</Words>
  <Application>Microsoft Office PowerPoint</Application>
  <PresentationFormat>Panorámica</PresentationFormat>
  <Paragraphs>180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Pablo Bermejo López</cp:lastModifiedBy>
  <cp:revision>4</cp:revision>
  <dcterms:created xsi:type="dcterms:W3CDTF">2013-01-27T09:14:16Z</dcterms:created>
  <dcterms:modified xsi:type="dcterms:W3CDTF">2026-07-01T14:26:23Z</dcterms:modified>
  <cp:category/>
</cp:coreProperties>
</file>